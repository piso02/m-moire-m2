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334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95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29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84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271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07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00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974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88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63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48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DC0A8-9DED-4401-AB79-462B5D86B502}" type="datetimeFigureOut">
              <a:rPr lang="fr-FR" smtClean="0"/>
              <a:t>17/09/2021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4ACF5-6DB0-4A58-9714-0A40077E78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98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2916042" y="1955413"/>
            <a:ext cx="7220734" cy="1074566"/>
          </a:xfrm>
        </p:spPr>
        <p:txBody>
          <a:bodyPr>
            <a:noAutofit/>
          </a:bodyPr>
          <a:lstStyle/>
          <a:p>
            <a:r>
              <a:rPr lang="fr-FR" sz="1800" b="1" dirty="0" smtClean="0">
                <a:latin typeface="Rockwell" panose="02060603020205020403" pitchFamily="18" charset="0"/>
              </a:rPr>
              <a:t>MÉMOIRE DE FIN </a:t>
            </a:r>
            <a:r>
              <a:rPr lang="fr-FR" sz="1800" b="1" dirty="0" smtClean="0">
                <a:latin typeface="Rockwell" panose="02060603020205020403" pitchFamily="18" charset="0"/>
              </a:rPr>
              <a:t>D’ETUDES </a:t>
            </a:r>
            <a:r>
              <a:rPr lang="fr-FR" sz="1800" b="1" dirty="0" smtClean="0">
                <a:latin typeface="Rockwell" panose="02060603020205020403" pitchFamily="18" charset="0"/>
              </a:rPr>
              <a:t>POUR L’OBTENTION DU DIPLÔME DE </a:t>
            </a:r>
            <a:r>
              <a:rPr lang="fr-FR" sz="1800" b="1" dirty="0" smtClean="0">
                <a:latin typeface="Rockwell" panose="02060603020205020403" pitchFamily="18" charset="0"/>
              </a:rPr>
              <a:t>MASTER PROFESSIONNEL </a:t>
            </a:r>
            <a:r>
              <a:rPr lang="fr-FR" sz="1800" b="1" dirty="0" smtClean="0">
                <a:latin typeface="Rockwell" panose="02060603020205020403" pitchFamily="18" charset="0"/>
              </a:rPr>
              <a:t>EN INFORMATIQUE</a:t>
            </a:r>
            <a:endParaRPr lang="fr-FR" sz="1800" b="1" dirty="0">
              <a:latin typeface="Rockwell" panose="02060603020205020403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91" y="300445"/>
            <a:ext cx="1368616" cy="168510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26" y="462726"/>
            <a:ext cx="1522828" cy="152282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776" y="45719"/>
            <a:ext cx="1637773" cy="1982288"/>
          </a:xfrm>
          <a:prstGeom prst="rect">
            <a:avLst/>
          </a:prstGeom>
        </p:spPr>
      </p:pic>
      <p:sp>
        <p:nvSpPr>
          <p:cNvPr id="11" name="Rectangle à coins arrondis 10"/>
          <p:cNvSpPr/>
          <p:nvPr/>
        </p:nvSpPr>
        <p:spPr>
          <a:xfrm>
            <a:off x="2021013" y="3582993"/>
            <a:ext cx="9115296" cy="1879346"/>
          </a:xfrm>
          <a:prstGeom prst="roundRect">
            <a:avLst/>
          </a:prstGeom>
          <a:solidFill>
            <a:srgbClr val="17437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2509832" y="4046356"/>
            <a:ext cx="81376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smtClean="0">
                <a:solidFill>
                  <a:schemeClr val="bg1"/>
                </a:solidFill>
              </a:rPr>
              <a:t>REFONTE DE L ’APPLICATION TROMBINOSCOPE ET GESTION DES HABILITATIONS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77742" y="6185171"/>
            <a:ext cx="449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Par Mademoiselle RASOAMAHEFA Rojo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3325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498765" y="1725149"/>
            <a:ext cx="5611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</a:rPr>
              <a:t>REMERCIEMENTS</a:t>
            </a:r>
            <a:endParaRPr lang="fr-FR" sz="3200" dirty="0">
              <a:solidFill>
                <a:schemeClr val="bg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29376" r="71262">
                        <a14:foregroundMark x1="64325" y1="45117" x2="64325" y2="45117"/>
                        <a14:foregroundMark x1="36496" y1="65234" x2="36496" y2="6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140" r="23502"/>
          <a:stretch/>
        </p:blipFill>
        <p:spPr>
          <a:xfrm>
            <a:off x="822662" y="2385997"/>
            <a:ext cx="2337955" cy="208600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353792" y="1120030"/>
            <a:ext cx="791787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Professeur RAFAMANTANANTSOA Fontaine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Professeur RAMAMONJISOA </a:t>
            </a:r>
            <a:r>
              <a:rPr lang="fr-FR" sz="2800" dirty="0" smtClean="0"/>
              <a:t>Bertin </a:t>
            </a:r>
            <a:r>
              <a:rPr lang="fr-FR" sz="2800" dirty="0" smtClean="0"/>
              <a:t>Olivier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Monsieur </a:t>
            </a:r>
            <a:r>
              <a:rPr lang="fr-FR" sz="2800" dirty="0" smtClean="0"/>
              <a:t>Thierry RAJAONA</a:t>
            </a: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Monsieur RAKOTOASIMBAHOAKA Cyprien Robert</a:t>
            </a:r>
            <a:endParaRPr lang="fr-FR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Mademoiselle </a:t>
            </a:r>
            <a:r>
              <a:rPr lang="fr-FR" sz="2800" dirty="0" smtClean="0"/>
              <a:t>RATIANANTITRA Volatiana </a:t>
            </a:r>
            <a:r>
              <a:rPr lang="fr-FR" sz="2800" dirty="0" smtClean="0"/>
              <a:t>Marielle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Monsieur RALAIVAO Jean Christian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Monsieur RATSIMANIVA Elysé</a:t>
            </a:r>
            <a:endParaRPr lang="fr-FR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smtClean="0"/>
              <a:t>Toute personne ayant contribué</a:t>
            </a:r>
          </a:p>
        </p:txBody>
      </p:sp>
    </p:spTree>
    <p:extLst>
      <p:ext uri="{BB962C8B-B14F-4D97-AF65-F5344CB8AC3E}">
        <p14:creationId xmlns:p14="http://schemas.microsoft.com/office/powerpoint/2010/main" val="308880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6053" r="91316">
                        <a14:foregroundMark x1="31842" y1="18338" x2="31842" y2="18338"/>
                        <a14:foregroundMark x1="31842" y1="26361" x2="31842" y2="263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518" y="2413209"/>
            <a:ext cx="1578317" cy="1452209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848004" y="2723814"/>
            <a:ext cx="4210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174374"/>
                </a:solidFill>
              </a:rPr>
              <a:t>INTRODUCTION</a:t>
            </a:r>
            <a:endParaRPr lang="fr-FR" sz="4800" dirty="0">
              <a:solidFill>
                <a:srgbClr val="1743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79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7" b="77261" l="34787" r="62886">
                        <a14:foregroundMark x1="42609" y1="71341" x2="42609" y2="71341"/>
                        <a14:foregroundMark x1="39234" y1="75407" x2="39234" y2="754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275" t="13470" r="33602" b="15651"/>
          <a:stretch/>
        </p:blipFill>
        <p:spPr>
          <a:xfrm>
            <a:off x="681902" y="2057401"/>
            <a:ext cx="2466543" cy="2234398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824312" y="2697546"/>
            <a:ext cx="66397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Comment </a:t>
            </a:r>
            <a:r>
              <a:rPr lang="fr-FR" sz="2800" dirty="0" smtClean="0"/>
              <a:t>mettre à jour Trombinoscope pour l’adapter aux besoins de nos jours?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009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985262" y="2515304"/>
            <a:ext cx="10427891" cy="2909247"/>
          </a:xfrm>
          <a:prstGeom prst="roundRect">
            <a:avLst/>
          </a:prstGeom>
          <a:solidFill>
            <a:srgbClr val="17437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1373363" y="3369762"/>
            <a:ext cx="9651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chemeClr val="bg1"/>
                </a:solidFill>
              </a:rPr>
              <a:t>REFONTE DE L ’APPLICATION TROMBINOSCOPE ET GESTION DES HABILITATIONS</a:t>
            </a:r>
            <a:endParaRPr lang="fr-FR" sz="3600" b="1" dirty="0">
              <a:solidFill>
                <a:schemeClr val="bg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776" y="45719"/>
            <a:ext cx="1637773" cy="198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5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032260" y="720733"/>
            <a:ext cx="23613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rgbClr val="174374"/>
                </a:solidFill>
              </a:rPr>
              <a:t>PLAN</a:t>
            </a:r>
            <a:endParaRPr lang="fr-FR" sz="6600" dirty="0">
              <a:solidFill>
                <a:srgbClr val="174374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90" y="1987071"/>
            <a:ext cx="1348741" cy="1348741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424647" y="4655679"/>
            <a:ext cx="2119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Présentation de FTHM Consulting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508" y="2945109"/>
            <a:ext cx="1402486" cy="1697507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347379" y="3458027"/>
            <a:ext cx="2119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Présentation de l’Ecole </a:t>
            </a:r>
            <a:r>
              <a:rPr lang="fr-FR" dirty="0" smtClean="0"/>
              <a:t>Nationale d’Informatique</a:t>
            </a:r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265" y="3588656"/>
            <a:ext cx="1273541" cy="1273541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5210388" y="5156809"/>
            <a:ext cx="1525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Description du projet</a:t>
            </a:r>
            <a:endParaRPr lang="fr-FR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04" y="2945109"/>
            <a:ext cx="1365634" cy="1365634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7752241" y="4642616"/>
            <a:ext cx="1525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Analyse et conception</a:t>
            </a:r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436" y="2043413"/>
            <a:ext cx="1292399" cy="1292399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0186554" y="3488735"/>
            <a:ext cx="200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Démonstration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456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5614358" y="2495897"/>
            <a:ext cx="62137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rgbClr val="174374"/>
                </a:solidFill>
              </a:rPr>
              <a:t>Présentations</a:t>
            </a:r>
            <a:endParaRPr lang="fr-FR" sz="4000" dirty="0">
              <a:solidFill>
                <a:srgbClr val="174374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6" b="89926" l="0" r="97185">
                        <a14:foregroundMark x1="24148" y1="13778" x2="24148" y2="13778"/>
                        <a14:foregroundMark x1="18222" y1="41037" x2="18222" y2="41037"/>
                        <a14:foregroundMark x1="36148" y1="30074" x2="36148" y2="30074"/>
                        <a14:foregroundMark x1="48148" y1="41926" x2="48148" y2="41926"/>
                        <a14:foregroundMark x1="87407" y1="21926" x2="87407" y2="21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22" y="1923623"/>
            <a:ext cx="2347575" cy="25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9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40326" y="1745673"/>
            <a:ext cx="293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</a:rPr>
              <a:t>Présentation de l’ENI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780409" y="1828800"/>
            <a:ext cx="65982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Ecole Nationale d’Informatique ou ENI</a:t>
            </a:r>
          </a:p>
          <a:p>
            <a:pPr lvl="1"/>
            <a:r>
              <a:rPr lang="fr-FR" sz="2400" dirty="0" smtClean="0"/>
              <a:t>    Adresse : Tanambao Fianarantsoa</a:t>
            </a:r>
          </a:p>
          <a:p>
            <a:pPr lvl="1"/>
            <a:r>
              <a:rPr lang="fr-FR" sz="2400" dirty="0" smtClean="0"/>
              <a:t>    Décret N° 83 185 du 24 mai 1983</a:t>
            </a:r>
          </a:p>
          <a:p>
            <a:pPr lvl="1"/>
            <a:r>
              <a:rPr lang="fr-FR" sz="2400" dirty="0" smtClean="0"/>
              <a:t>    BP : 1487</a:t>
            </a:r>
          </a:p>
          <a:p>
            <a:pPr lvl="1"/>
            <a:r>
              <a:rPr lang="fr-FR" sz="2400" dirty="0" smtClean="0"/>
              <a:t>    Téléphone : 75 508 01</a:t>
            </a:r>
          </a:p>
          <a:p>
            <a:pPr lvl="1"/>
            <a:r>
              <a:rPr lang="fr-FR" sz="2400" dirty="0" smtClean="0"/>
              <a:t>    eni@univ-fianar.mg / www.univ-fianar.mg</a:t>
            </a:r>
          </a:p>
          <a:p>
            <a:endParaRPr lang="fr-F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Parcours:</a:t>
            </a:r>
          </a:p>
          <a:p>
            <a:pPr lvl="1"/>
            <a:r>
              <a:rPr lang="fr-FR" sz="2400" dirty="0" smtClean="0"/>
              <a:t>Génie Logiciel et base de données</a:t>
            </a:r>
          </a:p>
          <a:p>
            <a:pPr lvl="1"/>
            <a:r>
              <a:rPr lang="fr-FR" sz="2400" dirty="0" smtClean="0"/>
              <a:t>Administration des systèmes et réseaux</a:t>
            </a:r>
          </a:p>
          <a:p>
            <a:pPr lvl="1"/>
            <a:r>
              <a:rPr lang="fr-FR" sz="2400" dirty="0" smtClean="0"/>
              <a:t>Informatique générale</a:t>
            </a:r>
            <a:endParaRPr lang="fr-FR" sz="2400" dirty="0"/>
          </a:p>
        </p:txBody>
      </p:sp>
      <p:sp>
        <p:nvSpPr>
          <p:cNvPr id="6" name="ZoneTexte 5"/>
          <p:cNvSpPr txBox="1"/>
          <p:nvPr/>
        </p:nvSpPr>
        <p:spPr>
          <a:xfrm>
            <a:off x="3971404" y="506186"/>
            <a:ext cx="6525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>
                <a:solidFill>
                  <a:srgbClr val="174374"/>
                </a:solidFill>
              </a:rPr>
              <a:t>Présentation de l’ENI</a:t>
            </a:r>
            <a:endParaRPr lang="fr-FR" sz="3600" dirty="0">
              <a:solidFill>
                <a:srgbClr val="174374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/>
          <a:srcRect r="2644"/>
          <a:stretch/>
        </p:blipFill>
        <p:spPr>
          <a:xfrm>
            <a:off x="1280016" y="2403130"/>
            <a:ext cx="1892775" cy="1924448"/>
          </a:xfrm>
          <a:prstGeom prst="ellipse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48545" y="1745673"/>
            <a:ext cx="45719" cy="379045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E65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84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687658" y="478259"/>
            <a:ext cx="559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>
                <a:solidFill>
                  <a:srgbClr val="174374"/>
                </a:solidFill>
              </a:rPr>
              <a:t>Présentation de </a:t>
            </a:r>
            <a:r>
              <a:rPr lang="fr-FR" sz="3600" dirty="0" smtClean="0">
                <a:solidFill>
                  <a:srgbClr val="174374"/>
                </a:solidFill>
              </a:rPr>
              <a:t>FT</a:t>
            </a:r>
            <a:r>
              <a:rPr lang="fr-FR" sz="3600" dirty="0" smtClean="0">
                <a:solidFill>
                  <a:srgbClr val="174374"/>
                </a:solidFill>
              </a:rPr>
              <a:t>HM</a:t>
            </a:r>
            <a:endParaRPr lang="fr-FR" sz="3600" dirty="0">
              <a:solidFill>
                <a:srgbClr val="174374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568616" y="2209577"/>
            <a:ext cx="81914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Adresse : </a:t>
            </a:r>
            <a:r>
              <a:rPr lang="fr-FR" sz="2000" dirty="0" smtClean="0"/>
              <a:t>Immeuble ARO </a:t>
            </a:r>
            <a:r>
              <a:rPr lang="fr-FR" sz="2000" dirty="0" err="1" smtClean="0"/>
              <a:t>Antsahavola</a:t>
            </a:r>
            <a:r>
              <a:rPr lang="fr-FR" sz="2000" dirty="0" smtClean="0"/>
              <a:t> 5</a:t>
            </a:r>
            <a:r>
              <a:rPr lang="fr-FR" sz="2000" baseline="30000" dirty="0" smtClean="0"/>
              <a:t>ème</a:t>
            </a:r>
            <a:r>
              <a:rPr lang="fr-FR" sz="2000" dirty="0" smtClean="0"/>
              <a:t> étage</a:t>
            </a:r>
            <a:r>
              <a:rPr lang="fr-FR" sz="2000" dirty="0" smtClean="0"/>
              <a:t> </a:t>
            </a:r>
            <a:r>
              <a:rPr lang="fr-FR" sz="2000" dirty="0" smtClean="0"/>
              <a:t>– Antananarivo </a:t>
            </a:r>
            <a:r>
              <a:rPr lang="fr-FR" sz="2000" dirty="0" smtClean="0"/>
              <a:t>101 </a:t>
            </a:r>
            <a:endParaRPr lang="fr-FR" sz="2000" dirty="0" smtClean="0"/>
          </a:p>
          <a:p>
            <a:r>
              <a:rPr lang="fr-FR" sz="2000" dirty="0" err="1" smtClean="0"/>
              <a:t>Rerésenté</a:t>
            </a:r>
            <a:r>
              <a:rPr lang="fr-FR" sz="2000" dirty="0" smtClean="0"/>
              <a:t> </a:t>
            </a:r>
            <a:r>
              <a:rPr lang="fr-FR" sz="2000" dirty="0" smtClean="0"/>
              <a:t>par : </a:t>
            </a:r>
            <a:r>
              <a:rPr lang="fr-FR" sz="2000" dirty="0" smtClean="0"/>
              <a:t>Thierry RAJAONA</a:t>
            </a:r>
            <a:endParaRPr lang="fr-FR" sz="2000" dirty="0" smtClean="0"/>
          </a:p>
          <a:p>
            <a:r>
              <a:rPr lang="fr-FR" sz="2000" dirty="0" smtClean="0"/>
              <a:t>Site </a:t>
            </a:r>
            <a:r>
              <a:rPr lang="fr-FR" sz="2000" dirty="0" smtClean="0"/>
              <a:t>web : http</a:t>
            </a:r>
            <a:r>
              <a:rPr lang="fr-FR" sz="2000" dirty="0" smtClean="0"/>
              <a:t>://fthmconsulting.com</a:t>
            </a:r>
            <a:endParaRPr lang="fr-FR" sz="2000" dirty="0" smtClean="0"/>
          </a:p>
          <a:p>
            <a:r>
              <a:rPr lang="fr-FR" sz="2000" dirty="0" smtClean="0"/>
              <a:t>Courriel : </a:t>
            </a:r>
            <a:r>
              <a:rPr lang="fr-FR" sz="2000" dirty="0" smtClean="0"/>
              <a:t>it@fthmconsulting.com</a:t>
            </a:r>
            <a:endParaRPr lang="fr-FR" sz="2000" dirty="0" smtClean="0"/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4568616" y="4319723"/>
            <a:ext cx="7252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12 Départements ayant chacun leurs missions 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 flipH="1">
            <a:off x="3947505" y="1551288"/>
            <a:ext cx="45719" cy="3969327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340" y="2209577"/>
            <a:ext cx="1637773" cy="198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4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267941" y="347862"/>
            <a:ext cx="71177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smtClean="0">
                <a:solidFill>
                  <a:srgbClr val="174374"/>
                </a:solidFill>
              </a:rPr>
              <a:t>Description du projet</a:t>
            </a:r>
            <a:endParaRPr lang="fr-FR" sz="4400" dirty="0">
              <a:solidFill>
                <a:srgbClr val="174374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65" t="20658" r="35463" b="16642"/>
          <a:stretch/>
        </p:blipFill>
        <p:spPr>
          <a:xfrm>
            <a:off x="1192641" y="2441863"/>
            <a:ext cx="1943100" cy="18288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873986" y="4514229"/>
            <a:ext cx="2580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Refonte de l’applicatio</a:t>
            </a:r>
            <a:r>
              <a:rPr lang="fr-FR" dirty="0" smtClean="0"/>
              <a:t>n Trombinoscope et gestion des habilitations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4603173" y="1931232"/>
            <a:ext cx="231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Besoins de l’utilisateur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405960" y="4067586"/>
            <a:ext cx="27115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smtClean="0"/>
              <a:t>Aperçu de l’ensemble du personnel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Ajout, suppression et mise à jour de l’information sur les consultants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Option de gestion des habilitations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Option de suivi des outils attribués</a:t>
            </a:r>
            <a:endParaRPr lang="fr-FR" dirty="0" smtClean="0"/>
          </a:p>
        </p:txBody>
      </p:sp>
      <p:sp>
        <p:nvSpPr>
          <p:cNvPr id="10" name="ZoneTexte 9"/>
          <p:cNvSpPr txBox="1"/>
          <p:nvPr/>
        </p:nvSpPr>
        <p:spPr>
          <a:xfrm>
            <a:off x="1589808" y="1977855"/>
            <a:ext cx="219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Objectif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546" y="2616138"/>
            <a:ext cx="1480251" cy="1480251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8317922" y="1977855"/>
            <a:ext cx="246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Résultats attendus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8222034" y="4508709"/>
            <a:ext cx="216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Nouvelle version de l’a</a:t>
            </a:r>
            <a:r>
              <a:rPr lang="fr-FR" dirty="0" smtClean="0"/>
              <a:t>pplication </a:t>
            </a:r>
            <a:r>
              <a:rPr lang="fr-FR" dirty="0" smtClean="0"/>
              <a:t>web </a:t>
            </a:r>
            <a:r>
              <a:rPr lang="fr-FR" dirty="0" smtClean="0"/>
              <a:t>Trombinoscope</a:t>
            </a:r>
            <a:r>
              <a:rPr lang="fr-FR" dirty="0" smtClean="0"/>
              <a:t> </a:t>
            </a:r>
            <a:endParaRPr lang="fr-FR" dirty="0" smtClean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296" y="2441863"/>
            <a:ext cx="1457694" cy="145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282" b="90031" l="64241" r="96027">
                        <a14:foregroundMark x1="81752" y1="49390" x2="81752" y2="49390"/>
                        <a14:foregroundMark x1="81569" y1="66057" x2="81569" y2="66057"/>
                        <a14:foregroundMark x1="72719" y1="61382" x2="72719" y2="61382"/>
                        <a14:foregroundMark x1="92792" y1="62602" x2="92792" y2="626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268" t="313" r="-7828" b="-313"/>
          <a:stretch/>
        </p:blipFill>
        <p:spPr>
          <a:xfrm>
            <a:off x="550718" y="1594710"/>
            <a:ext cx="3186062" cy="324201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147062" y="2338555"/>
            <a:ext cx="5603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 smtClean="0">
                <a:solidFill>
                  <a:srgbClr val="174374"/>
                </a:solidFill>
              </a:rPr>
              <a:t>Analyse et Conception</a:t>
            </a:r>
            <a:endParaRPr lang="fr-FR" sz="5400" dirty="0">
              <a:solidFill>
                <a:srgbClr val="1743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196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611" y="1943056"/>
            <a:ext cx="1995100" cy="19951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461611" y="4249882"/>
            <a:ext cx="2899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Analyse préalable</a:t>
            </a:r>
            <a:endParaRPr lang="fr-FR" sz="2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399" y="1381991"/>
            <a:ext cx="3618691" cy="332955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595654" y="4249881"/>
            <a:ext cx="290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Analyse Conceptuelle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2" t="16212" r="29461" b="16364"/>
          <a:stretch/>
        </p:blipFill>
        <p:spPr>
          <a:xfrm>
            <a:off x="8932626" y="1911337"/>
            <a:ext cx="2022263" cy="2026819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8666017" y="4249880"/>
            <a:ext cx="3002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Conception détaillée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06427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1" y="11415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7" b="42469" l="6742" r="55680">
                        <a14:foregroundMark x1="45693" y1="18318" x2="45693" y2="18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15" t="5303" r="45771" b="53181"/>
          <a:stretch/>
        </p:blipFill>
        <p:spPr>
          <a:xfrm>
            <a:off x="898075" y="1915350"/>
            <a:ext cx="2079660" cy="180897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520044" y="280642"/>
            <a:ext cx="5153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Analyse de l’existant</a:t>
            </a:r>
            <a:endParaRPr lang="fr-FR" sz="3200" dirty="0"/>
          </a:p>
        </p:txBody>
      </p:sp>
      <p:sp>
        <p:nvSpPr>
          <p:cNvPr id="7" name="ZoneTexte 6"/>
          <p:cNvSpPr txBox="1"/>
          <p:nvPr/>
        </p:nvSpPr>
        <p:spPr>
          <a:xfrm>
            <a:off x="4520044" y="4020207"/>
            <a:ext cx="3735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Critique de l’existant</a:t>
            </a:r>
            <a:endParaRPr lang="fr-FR" sz="3200" dirty="0"/>
          </a:p>
        </p:txBody>
      </p:sp>
      <p:sp>
        <p:nvSpPr>
          <p:cNvPr id="8" name="Rectangle 7"/>
          <p:cNvSpPr/>
          <p:nvPr/>
        </p:nvSpPr>
        <p:spPr>
          <a:xfrm>
            <a:off x="4904508" y="875203"/>
            <a:ext cx="45719" cy="41968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904508" y="4726114"/>
            <a:ext cx="45719" cy="1072013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5101935" y="884988"/>
            <a:ext cx="4312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 </a:t>
            </a:r>
            <a:r>
              <a:rPr lang="fr-FR" sz="2000" dirty="0" smtClean="0"/>
              <a:t>Version obsolète de Trombinoscope</a:t>
            </a:r>
            <a:endParaRPr lang="fr-FR" sz="2000" dirty="0"/>
          </a:p>
        </p:txBody>
      </p:sp>
      <p:sp>
        <p:nvSpPr>
          <p:cNvPr id="11" name="ZoneTexte 10"/>
          <p:cNvSpPr txBox="1"/>
          <p:nvPr/>
        </p:nvSpPr>
        <p:spPr>
          <a:xfrm>
            <a:off x="5101935" y="4790260"/>
            <a:ext cx="6092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000" dirty="0" smtClean="0"/>
              <a:t>Besoin de l’intervention de l’équipe informatique pour l’ajout des nouveaux consultants</a:t>
            </a:r>
          </a:p>
          <a:p>
            <a:pPr marL="342900" indent="-342900">
              <a:buFontTx/>
              <a:buChar char="-"/>
            </a:pPr>
            <a:r>
              <a:rPr lang="fr-FR" sz="2000" dirty="0" smtClean="0"/>
              <a:t>Aucune base de données</a:t>
            </a:r>
            <a:endParaRPr lang="fr-FR" sz="2000" dirty="0"/>
          </a:p>
        </p:txBody>
      </p:sp>
      <p:sp>
        <p:nvSpPr>
          <p:cNvPr id="12" name="ZoneTexte 11"/>
          <p:cNvSpPr txBox="1"/>
          <p:nvPr/>
        </p:nvSpPr>
        <p:spPr>
          <a:xfrm>
            <a:off x="4520043" y="2021540"/>
            <a:ext cx="5153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Organisation actuelle</a:t>
            </a:r>
            <a:endParaRPr lang="fr-FR" sz="3200" dirty="0"/>
          </a:p>
        </p:txBody>
      </p:sp>
      <p:sp>
        <p:nvSpPr>
          <p:cNvPr id="13" name="Rectangle 12"/>
          <p:cNvSpPr/>
          <p:nvPr/>
        </p:nvSpPr>
        <p:spPr>
          <a:xfrm>
            <a:off x="4904507" y="2764460"/>
            <a:ext cx="45719" cy="675955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4950226" y="2714648"/>
            <a:ext cx="6719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 - </a:t>
            </a:r>
            <a:r>
              <a:rPr lang="fr-FR" sz="2000" dirty="0" smtClean="0"/>
              <a:t>Insertion manuelle des nouveaux consult</a:t>
            </a:r>
            <a:r>
              <a:rPr lang="fr-FR" sz="2000" dirty="0" smtClean="0"/>
              <a:t>ants</a:t>
            </a:r>
            <a:endParaRPr lang="fr-FR" sz="2000" dirty="0" smtClean="0"/>
          </a:p>
          <a:p>
            <a:r>
              <a:rPr lang="fr-FR" sz="2000" dirty="0" smtClean="0"/>
              <a:t> - </a:t>
            </a:r>
            <a:r>
              <a:rPr lang="fr-FR" sz="2000" dirty="0" smtClean="0"/>
              <a:t>Traitement des demandes d’habilitations par des tickets GLPI</a:t>
            </a:r>
            <a:endParaRPr lang="fr-FR" sz="2000" dirty="0" smtClean="0"/>
          </a:p>
          <a:p>
            <a:r>
              <a:rPr lang="fr-FR" sz="2000" dirty="0" smtClean="0"/>
              <a:t> 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07786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1" t="55455" r="56506" b="14242"/>
          <a:stretch/>
        </p:blipFill>
        <p:spPr>
          <a:xfrm>
            <a:off x="5185063" y="488372"/>
            <a:ext cx="1610591" cy="1620981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633846" y="3491346"/>
            <a:ext cx="2234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/>
              <a:t>Refonte de l’application Trombinoscope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283406" y="4238582"/>
            <a:ext cx="2105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Méthode de modélisation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846931" y="4887978"/>
            <a:ext cx="978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2TUP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536839" y="5483112"/>
            <a:ext cx="1336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Notation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846931" y="5806483"/>
            <a:ext cx="9781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UML</a:t>
            </a:r>
          </a:p>
          <a:p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6744434" y="3138288"/>
            <a:ext cx="1734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Langage</a:t>
            </a:r>
            <a:endParaRPr lang="fr-FR" sz="2400" dirty="0"/>
          </a:p>
        </p:txBody>
      </p:sp>
      <p:sp>
        <p:nvSpPr>
          <p:cNvPr id="12" name="ZoneTexte 11"/>
          <p:cNvSpPr txBox="1"/>
          <p:nvPr/>
        </p:nvSpPr>
        <p:spPr>
          <a:xfrm>
            <a:off x="9356159" y="3138288"/>
            <a:ext cx="1734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SGBD</a:t>
            </a:r>
            <a:endParaRPr lang="fr-FR" sz="240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100" y="3755044"/>
            <a:ext cx="1635674" cy="1192935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3283406" y="2892067"/>
            <a:ext cx="2105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Méthode de </a:t>
            </a:r>
            <a:r>
              <a:rPr lang="fr-FR" sz="2000" dirty="0" smtClean="0"/>
              <a:t>gestion de projet</a:t>
            </a:r>
            <a:endParaRPr lang="fr-FR" sz="2000" dirty="0"/>
          </a:p>
        </p:txBody>
      </p:sp>
      <p:sp>
        <p:nvSpPr>
          <p:cNvPr id="15" name="ZoneTexte 14"/>
          <p:cNvSpPr txBox="1"/>
          <p:nvPr/>
        </p:nvSpPr>
        <p:spPr>
          <a:xfrm>
            <a:off x="3744121" y="3524212"/>
            <a:ext cx="1166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SCRUM</a:t>
            </a:r>
            <a:endParaRPr lang="fr-FR" sz="2400" dirty="0"/>
          </a:p>
        </p:txBody>
      </p:sp>
      <p:sp>
        <p:nvSpPr>
          <p:cNvPr id="16" name="ZoneTexte 15"/>
          <p:cNvSpPr txBox="1"/>
          <p:nvPr/>
        </p:nvSpPr>
        <p:spPr>
          <a:xfrm>
            <a:off x="6795654" y="3755044"/>
            <a:ext cx="1166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Python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3090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34" y="545738"/>
            <a:ext cx="1149165" cy="1149165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3709851" y="935655"/>
            <a:ext cx="1867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Nouveau arrivant</a:t>
            </a:r>
            <a:endParaRPr lang="fr-FR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0" t="13470" r="35255" b="14730"/>
          <a:stretch/>
        </p:blipFill>
        <p:spPr>
          <a:xfrm>
            <a:off x="660246" y="2519645"/>
            <a:ext cx="1338371" cy="1491328"/>
          </a:xfrm>
          <a:prstGeom prst="rect">
            <a:avLst/>
          </a:prstGeom>
        </p:spPr>
      </p:pic>
      <p:sp>
        <p:nvSpPr>
          <p:cNvPr id="8" name="Rectangle à coins arrondis 7"/>
          <p:cNvSpPr/>
          <p:nvPr/>
        </p:nvSpPr>
        <p:spPr>
          <a:xfrm>
            <a:off x="4614044" y="2583478"/>
            <a:ext cx="2771039" cy="195782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028427" y="3074292"/>
            <a:ext cx="748145" cy="93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5028427" y="3396298"/>
            <a:ext cx="3740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547559" y="3392695"/>
            <a:ext cx="3740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6068131" y="3408021"/>
            <a:ext cx="3740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018650" y="3591565"/>
            <a:ext cx="1631373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5018649" y="3786832"/>
            <a:ext cx="1631373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5009282" y="3987184"/>
            <a:ext cx="1631373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5874873" y="4581444"/>
            <a:ext cx="124690" cy="2638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>
            <a:off x="5547559" y="4809080"/>
            <a:ext cx="789709" cy="1527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660246" y="4077241"/>
            <a:ext cx="1867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RHI/Manager</a:t>
            </a:r>
            <a:endParaRPr lang="fr-FR" b="1" dirty="0"/>
          </a:p>
        </p:txBody>
      </p:sp>
      <p:sp>
        <p:nvSpPr>
          <p:cNvPr id="19" name="ZoneTexte 18"/>
          <p:cNvSpPr txBox="1"/>
          <p:nvPr/>
        </p:nvSpPr>
        <p:spPr>
          <a:xfrm>
            <a:off x="2250295" y="2916057"/>
            <a:ext cx="2112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Saisie les données du nouveau arrivant</a:t>
            </a:r>
            <a:endParaRPr lang="fr-FR" dirty="0"/>
          </a:p>
        </p:txBody>
      </p:sp>
      <p:sp>
        <p:nvSpPr>
          <p:cNvPr id="20" name="Flèche droite 19"/>
          <p:cNvSpPr/>
          <p:nvPr/>
        </p:nvSpPr>
        <p:spPr>
          <a:xfrm>
            <a:off x="2298081" y="3697469"/>
            <a:ext cx="1908413" cy="209895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2403934" y="4064256"/>
            <a:ext cx="2112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Gère les fiches d’habilitation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4643845" y="5350516"/>
            <a:ext cx="2527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Trombinoscope</a:t>
            </a:r>
            <a:endParaRPr lang="fr-FR" sz="2800" b="1" dirty="0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0" t="13470" r="35255" b="14730"/>
          <a:stretch/>
        </p:blipFill>
        <p:spPr>
          <a:xfrm>
            <a:off x="9919634" y="2422146"/>
            <a:ext cx="1338371" cy="1491328"/>
          </a:xfrm>
          <a:prstGeom prst="rect">
            <a:avLst/>
          </a:prstGeom>
        </p:spPr>
      </p:pic>
      <p:sp>
        <p:nvSpPr>
          <p:cNvPr id="24" name="ZoneTexte 23"/>
          <p:cNvSpPr txBox="1"/>
          <p:nvPr/>
        </p:nvSpPr>
        <p:spPr>
          <a:xfrm>
            <a:off x="10219508" y="4001954"/>
            <a:ext cx="1867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INFO</a:t>
            </a:r>
            <a:endParaRPr lang="fr-FR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7746260" y="2968093"/>
            <a:ext cx="2112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Suivi de l’historique des habilitations</a:t>
            </a:r>
            <a:endParaRPr lang="fr-FR" dirty="0"/>
          </a:p>
        </p:txBody>
      </p:sp>
      <p:sp>
        <p:nvSpPr>
          <p:cNvPr id="26" name="Flèche droite 25"/>
          <p:cNvSpPr/>
          <p:nvPr/>
        </p:nvSpPr>
        <p:spPr>
          <a:xfrm rot="10800000">
            <a:off x="7812495" y="3856342"/>
            <a:ext cx="2104220" cy="156892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20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88918" y="343685"/>
            <a:ext cx="5091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174374"/>
                </a:solidFill>
              </a:rPr>
              <a:t>Diagramme de cas d’utilisation</a:t>
            </a:r>
            <a:endParaRPr lang="fr-FR" sz="2400" dirty="0">
              <a:solidFill>
                <a:srgbClr val="174374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" y="805350"/>
            <a:ext cx="11772432" cy="559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02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88918" y="343685"/>
            <a:ext cx="5091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174374"/>
                </a:solidFill>
              </a:rPr>
              <a:t>Modèle du domaine</a:t>
            </a:r>
            <a:endParaRPr lang="fr-FR" sz="2400" dirty="0">
              <a:solidFill>
                <a:srgbClr val="174374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11" y="1602628"/>
            <a:ext cx="11896349" cy="381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65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664" b="75765" l="36502" r="63444">
                        <a14:foregroundMark x1="54927" y1="28252" x2="54927" y2="28252"/>
                        <a14:foregroundMark x1="43431" y1="68496" x2="43431" y2="684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34" t="17152" r="33188" b="17722"/>
          <a:stretch/>
        </p:blipFill>
        <p:spPr>
          <a:xfrm>
            <a:off x="752827" y="2176895"/>
            <a:ext cx="2525615" cy="2192481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881253" y="2857636"/>
            <a:ext cx="5860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174374"/>
                </a:solidFill>
              </a:rPr>
              <a:t>DEMONSTRATION</a:t>
            </a:r>
            <a:endParaRPr lang="fr-FR" sz="4800" dirty="0">
              <a:solidFill>
                <a:srgbClr val="1743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43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92" y="10391"/>
            <a:ext cx="3855027" cy="6858000"/>
          </a:xfrm>
          <a:prstGeom prst="rect">
            <a:avLst/>
          </a:prstGeom>
          <a:solidFill>
            <a:srgbClr val="1743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5762798" y="2824190"/>
            <a:ext cx="6057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smtClean="0">
                <a:solidFill>
                  <a:srgbClr val="174374"/>
                </a:solidFill>
              </a:rPr>
              <a:t>CONCLUSION</a:t>
            </a:r>
            <a:endParaRPr lang="fr-FR" sz="3200" dirty="0">
              <a:solidFill>
                <a:srgbClr val="1743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8418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294</Words>
  <Application>Microsoft Office PowerPoint</Application>
  <PresentationFormat>Grand écran</PresentationFormat>
  <Paragraphs>87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Rockwell</vt:lpstr>
      <vt:lpstr>Thème Office</vt:lpstr>
      <vt:lpstr>MÉMOIRE DE FIN D’ETUDES POUR L’OBTENTION DU DIPLÔME DE MASTER PROFESSIONNEL EN INFORMATIQUE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Rojo</dc:creator>
  <cp:lastModifiedBy>Rojo</cp:lastModifiedBy>
  <cp:revision>16</cp:revision>
  <dcterms:created xsi:type="dcterms:W3CDTF">2021-09-17T18:33:38Z</dcterms:created>
  <dcterms:modified xsi:type="dcterms:W3CDTF">2021-09-17T20:56:47Z</dcterms:modified>
</cp:coreProperties>
</file>