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2765" autoAdjust="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0AF0C-3AB8-437E-95D4-0C7A0069C40B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BB31B-DB05-4EAA-85E8-32EB48E7BD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58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Maîtrise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d’ouvrage à la construction, mais aujourd’hui elle a un sens beaucoup plus commun, qui s’étend aux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partenariats industriels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aux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projets de système d'information…</a:t>
            </a:r>
            <a:endParaRPr lang="fr-FR" dirty="0" smtClean="0"/>
          </a:p>
          <a:p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AMOA :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pour mission d’assister le maître d’ouvrage (client), à l’aider pour piloter, exploiter le projet du client. AMOA conseille le maître d’ouvrage qui reste le décideur final de toutes les stratégies mises au point. </a:t>
            </a:r>
          </a:p>
          <a:p>
            <a:endParaRPr lang="fr-FR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5BB31B-DB05-4EAA-85E8-32EB48E7BDE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6322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18153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15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383255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053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591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72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39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2432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8389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536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29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5742802-66E8-4BFA-8FD5-42C3BE1C91E4}" type="datetimeFigureOut">
              <a:rPr lang="fr-FR" smtClean="0"/>
              <a:t>22/05/2020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175476F-4839-4669-AB83-768EC1834910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1961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4548" y="2068683"/>
            <a:ext cx="8135937" cy="1774825"/>
          </a:xfrm>
        </p:spPr>
        <p:txBody>
          <a:bodyPr rtlCol="0">
            <a:noAutofit/>
          </a:bodyPr>
          <a:lstStyle/>
          <a:p>
            <a:pPr algn="ctr" defTabSz="457207">
              <a:lnSpc>
                <a:spcPct val="8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r>
              <a:rPr lang="fr-FR" sz="7200" b="1" cap="all" dirty="0">
                <a:latin typeface="+mj-lt"/>
                <a:ea typeface="+mj-ea"/>
                <a:cs typeface="+mj-cs"/>
              </a:rPr>
              <a:t>INTEGRATION DES NOUVELLES RECRUES</a:t>
            </a:r>
          </a:p>
          <a:p>
            <a:pPr algn="ctr" defTabSz="457207">
              <a:lnSpc>
                <a:spcPct val="8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endParaRPr lang="fr-FR" sz="7200" b="1" cap="all" dirty="0">
              <a:latin typeface="+mj-lt"/>
              <a:ea typeface="+mj-ea"/>
              <a:cs typeface="+mj-cs"/>
            </a:endParaRPr>
          </a:p>
        </p:txBody>
      </p:sp>
      <p:pic>
        <p:nvPicPr>
          <p:cNvPr id="5125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373" y="4140045"/>
            <a:ext cx="1284287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68288" y="4743988"/>
            <a:ext cx="8135937" cy="1774825"/>
          </a:xfrm>
          <a:prstGeom prst="rect">
            <a:avLst/>
          </a:prstGeom>
        </p:spPr>
        <p:txBody>
          <a:bodyPr vert="horz" lIns="91440" tIns="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8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defTabSz="457207">
              <a:lnSpc>
                <a:spcPct val="80000"/>
              </a:lnSpc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r>
              <a:rPr lang="fr-FR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Gabrielle MIHARY – </a:t>
            </a:r>
            <a:r>
              <a:rPr lang="fr-FR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 2020</a:t>
            </a:r>
            <a:r>
              <a:rPr lang="fr-FR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fr-F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95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3"/>
          <p:cNvSpPr>
            <a:spLocks noGrp="1"/>
          </p:cNvSpPr>
          <p:nvPr>
            <p:ph type="ctrTitle"/>
          </p:nvPr>
        </p:nvSpPr>
        <p:spPr>
          <a:xfrm>
            <a:off x="1638178" y="1689345"/>
            <a:ext cx="7772400" cy="2308225"/>
          </a:xfrm>
        </p:spPr>
        <p:txBody>
          <a:bodyPr/>
          <a:lstStyle/>
          <a:p>
            <a:pPr algn="ctr" eaLnBrk="1" hangingPunct="1"/>
            <a:r>
              <a:rPr lang="fr-FR" b="1" dirty="0" smtClean="0"/>
              <a:t>Présentation du Groupe FTHM</a:t>
            </a:r>
          </a:p>
        </p:txBody>
      </p:sp>
      <p:pic>
        <p:nvPicPr>
          <p:cNvPr id="6147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977" y="4686496"/>
            <a:ext cx="7460677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868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279650" y="588964"/>
            <a:ext cx="7054850" cy="1400175"/>
          </a:xfrm>
        </p:spPr>
        <p:txBody>
          <a:bodyPr/>
          <a:lstStyle/>
          <a:p>
            <a:pPr algn="ctr" eaLnBrk="1" hangingPunct="1"/>
            <a:r>
              <a:rPr lang="fr-F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VISION ET VALEURS</a:t>
            </a:r>
            <a:endParaRPr lang="fr-F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171" name="Espace réservé du contenu 5"/>
          <p:cNvSpPr>
            <a:spLocks noGrp="1"/>
          </p:cNvSpPr>
          <p:nvPr>
            <p:ph idx="1"/>
          </p:nvPr>
        </p:nvSpPr>
        <p:spPr>
          <a:xfrm>
            <a:off x="2714625" y="2205038"/>
            <a:ext cx="7772400" cy="4114800"/>
          </a:xfrm>
        </p:spPr>
        <p:txBody>
          <a:bodyPr/>
          <a:lstStyle/>
          <a:p>
            <a:pPr eaLnBrk="1" hangingPunct="1"/>
            <a:endParaRPr lang="fr-FR" smtClean="0"/>
          </a:p>
          <a:p>
            <a:pPr eaLnBrk="1" hangingPunct="1"/>
            <a:endParaRPr lang="fr-FR" smtClean="0"/>
          </a:p>
          <a:p>
            <a:pPr eaLnBrk="1" hangingPunct="1"/>
            <a:endParaRPr lang="fr-FR" smtClean="0"/>
          </a:p>
        </p:txBody>
      </p:sp>
      <p:sp>
        <p:nvSpPr>
          <p:cNvPr id="7172" name="ZoneTexte 4"/>
          <p:cNvSpPr txBox="1">
            <a:spLocks noChangeArrowheads="1"/>
          </p:cNvSpPr>
          <p:nvPr/>
        </p:nvSpPr>
        <p:spPr bwMode="auto">
          <a:xfrm>
            <a:off x="2895042" y="2205038"/>
            <a:ext cx="80613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fr-FR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VISION : Exportation du savoir- faire en Afrique</a:t>
            </a:r>
          </a:p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fr-F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fr-FR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fr-FR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VALEURS : écoute - engagement - résultats</a:t>
            </a:r>
            <a:endParaRPr lang="fr-FR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4697413"/>
            <a:ext cx="7462838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73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2910714" y="557213"/>
            <a:ext cx="7054850" cy="1400175"/>
          </a:xfrm>
        </p:spPr>
        <p:txBody>
          <a:bodyPr/>
          <a:lstStyle/>
          <a:p>
            <a:pPr algn="ctr" eaLnBrk="1" hangingPunct="1"/>
            <a:r>
              <a:rPr lang="fr-FR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Présentation générale</a:t>
            </a:r>
            <a:endParaRPr lang="fr-FR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171" name="Espace réservé du contenu 5"/>
          <p:cNvSpPr>
            <a:spLocks noGrp="1"/>
          </p:cNvSpPr>
          <p:nvPr>
            <p:ph idx="1"/>
          </p:nvPr>
        </p:nvSpPr>
        <p:spPr>
          <a:xfrm>
            <a:off x="2714625" y="2205038"/>
            <a:ext cx="7772400" cy="4114800"/>
          </a:xfrm>
        </p:spPr>
        <p:txBody>
          <a:bodyPr/>
          <a:lstStyle/>
          <a:p>
            <a:pPr eaLnBrk="1" hangingPunct="1"/>
            <a:endParaRPr lang="fr-FR" smtClean="0"/>
          </a:p>
          <a:p>
            <a:pPr eaLnBrk="1" hangingPunct="1"/>
            <a:endParaRPr lang="fr-FR" smtClean="0"/>
          </a:p>
          <a:p>
            <a:pPr eaLnBrk="1" hangingPunct="1"/>
            <a:endParaRPr lang="fr-FR" smtClean="0"/>
          </a:p>
        </p:txBody>
      </p:sp>
      <p:sp>
        <p:nvSpPr>
          <p:cNvPr id="7172" name="ZoneTexte 4"/>
          <p:cNvSpPr txBox="1">
            <a:spLocks noChangeArrowheads="1"/>
          </p:cNvSpPr>
          <p:nvPr/>
        </p:nvSpPr>
        <p:spPr bwMode="auto">
          <a:xfrm>
            <a:off x="2135189" y="2039938"/>
            <a:ext cx="806132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fr-F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Fondée en 1994</a:t>
            </a:r>
            <a:r>
              <a:rPr lang="fr-FR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 marL="0" indent="0" algn="just">
              <a:spcBef>
                <a:spcPct val="0"/>
              </a:spcBef>
              <a:buClrTx/>
              <a:buSzTx/>
              <a:buNone/>
            </a:pPr>
            <a:endParaRPr lang="fr-F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fr-FR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Cabinet indépendant </a:t>
            </a:r>
            <a:r>
              <a:rPr lang="fr-F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conseil en stratégie, management et ingénierie financière et en BPO</a:t>
            </a:r>
            <a:r>
              <a:rPr lang="fr-FR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 marL="0" indent="0" algn="just">
              <a:spcBef>
                <a:spcPct val="0"/>
              </a:spcBef>
              <a:buClrTx/>
              <a:buSzTx/>
              <a:buNone/>
            </a:pPr>
            <a:endParaRPr lang="fr-F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fr-FR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Premier en </a:t>
            </a:r>
            <a:r>
              <a:rPr lang="fr-F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Afrique à être certifiée ISO 9001</a:t>
            </a:r>
            <a:r>
              <a:rPr lang="fr-FR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 marL="0" indent="0" algn="just">
              <a:spcBef>
                <a:spcPct val="0"/>
              </a:spcBef>
              <a:buClrTx/>
              <a:buSzTx/>
              <a:buNone/>
            </a:pPr>
            <a:endParaRPr lang="fr-FR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fr-FR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Accompagnement des entreprises et des organisations dans </a:t>
            </a:r>
            <a:r>
              <a:rPr lang="fr-F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toutes les phases de </a:t>
            </a:r>
            <a:r>
              <a:rPr lang="fr-FR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leur développement.</a:t>
            </a:r>
            <a:endParaRPr lang="fr-FR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835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07001" y="1718454"/>
            <a:ext cx="1271588" cy="884237"/>
          </a:xfrm>
        </p:spPr>
      </p:pic>
      <p:pic>
        <p:nvPicPr>
          <p:cNvPr id="12292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1" y="3403600"/>
            <a:ext cx="1368425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3403601"/>
            <a:ext cx="1366837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5556250"/>
            <a:ext cx="137001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Imag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088" y="5557839"/>
            <a:ext cx="13700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Espace réservé du contenu 2"/>
          <p:cNvSpPr txBox="1">
            <a:spLocks/>
          </p:cNvSpPr>
          <p:nvPr/>
        </p:nvSpPr>
        <p:spPr bwMode="auto">
          <a:xfrm>
            <a:off x="6750857" y="1792159"/>
            <a:ext cx="3810000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buFont typeface="Wingdings 3" panose="05040102010807070707" pitchFamily="18" charset="2"/>
              <a:buNone/>
            </a:pPr>
            <a:r>
              <a:rPr lang="fr-FR" sz="1800" dirty="0"/>
              <a:t>Antananarivo	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fr-FR" sz="1800" dirty="0"/>
              <a:t>Toamasina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eaLnBrk="1" hangingPunct="1">
              <a:buFont typeface="Wingdings 3" panose="05040102010807070707" pitchFamily="18" charset="2"/>
              <a:buNone/>
            </a:pPr>
            <a:endParaRPr lang="fr-FR" sz="1800" dirty="0"/>
          </a:p>
        </p:txBody>
      </p:sp>
      <p:sp>
        <p:nvSpPr>
          <p:cNvPr id="12297" name="Espace réservé du contenu 2"/>
          <p:cNvSpPr txBox="1">
            <a:spLocks/>
          </p:cNvSpPr>
          <p:nvPr/>
        </p:nvSpPr>
        <p:spPr bwMode="auto">
          <a:xfrm>
            <a:off x="9631363" y="3668714"/>
            <a:ext cx="381000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buFont typeface="Wingdings 3" panose="05040102010807070707" pitchFamily="18" charset="2"/>
              <a:buNone/>
            </a:pPr>
            <a:r>
              <a:rPr lang="fr-FR" sz="1800" dirty="0"/>
              <a:t>Paris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eaLnBrk="1" hangingPunct="1">
              <a:buFont typeface="Wingdings 3" panose="05040102010807070707" pitchFamily="18" charset="2"/>
              <a:buNone/>
            </a:pPr>
            <a:endParaRPr lang="fr-FR" sz="1800" dirty="0"/>
          </a:p>
        </p:txBody>
      </p:sp>
      <p:sp>
        <p:nvSpPr>
          <p:cNvPr id="16" name="Espace réservé du contenu 2"/>
          <p:cNvSpPr txBox="1">
            <a:spLocks/>
          </p:cNvSpPr>
          <p:nvPr/>
        </p:nvSpPr>
        <p:spPr>
          <a:xfrm>
            <a:off x="3543300" y="3433764"/>
            <a:ext cx="3810000" cy="1095375"/>
          </a:xfrm>
          <a:prstGeom prst="rect">
            <a:avLst/>
          </a:prstGeom>
        </p:spPr>
        <p:txBody>
          <a:bodyPr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  <a:defRPr/>
            </a:pPr>
            <a:endParaRPr lang="fr-FR" sz="2000" dirty="0"/>
          </a:p>
          <a:p>
            <a:pPr marL="0" indent="0">
              <a:buNone/>
              <a:defRPr/>
            </a:pPr>
            <a:r>
              <a:rPr lang="fr-FR" dirty="0"/>
              <a:t>Port Louis</a:t>
            </a:r>
          </a:p>
          <a:p>
            <a:pPr marL="0" indent="0">
              <a:buNone/>
              <a:defRPr/>
            </a:pPr>
            <a:endParaRPr lang="fr-FR" sz="2000" dirty="0"/>
          </a:p>
          <a:p>
            <a:pPr fontAlgn="auto">
              <a:defRPr/>
            </a:pPr>
            <a:endParaRPr lang="fr-FR" dirty="0"/>
          </a:p>
        </p:txBody>
      </p:sp>
      <p:sp>
        <p:nvSpPr>
          <p:cNvPr id="17" name="Espace réservé du contenu 2"/>
          <p:cNvSpPr txBox="1">
            <a:spLocks/>
          </p:cNvSpPr>
          <p:nvPr/>
        </p:nvSpPr>
        <p:spPr>
          <a:xfrm>
            <a:off x="4295775" y="5076826"/>
            <a:ext cx="3810000" cy="1387475"/>
          </a:xfrm>
          <a:prstGeom prst="rect">
            <a:avLst/>
          </a:prstGeom>
        </p:spPr>
        <p:txBody>
          <a:bodyPr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  <a:defRPr/>
            </a:pPr>
            <a:r>
              <a:rPr lang="fr-FR" dirty="0"/>
              <a:t>	</a:t>
            </a:r>
          </a:p>
          <a:p>
            <a:pPr marL="0" indent="0">
              <a:buNone/>
              <a:defRPr/>
            </a:pPr>
            <a:endParaRPr lang="fr-FR" sz="2000" dirty="0"/>
          </a:p>
          <a:p>
            <a:pPr marL="0" indent="0">
              <a:buNone/>
              <a:defRPr/>
            </a:pPr>
            <a:r>
              <a:rPr lang="fr-FR" dirty="0"/>
              <a:t>Moroni</a:t>
            </a:r>
          </a:p>
          <a:p>
            <a:pPr marL="0" indent="0">
              <a:buNone/>
              <a:defRPr/>
            </a:pPr>
            <a:endParaRPr lang="fr-FR" sz="2000" dirty="0"/>
          </a:p>
          <a:p>
            <a:pPr fontAlgn="auto">
              <a:defRPr/>
            </a:pPr>
            <a:endParaRPr lang="fr-FR" dirty="0"/>
          </a:p>
        </p:txBody>
      </p:sp>
      <p:sp>
        <p:nvSpPr>
          <p:cNvPr id="18" name="Espace réservé du contenu 2"/>
          <p:cNvSpPr txBox="1">
            <a:spLocks/>
          </p:cNvSpPr>
          <p:nvPr/>
        </p:nvSpPr>
        <p:spPr>
          <a:xfrm>
            <a:off x="8839200" y="5373689"/>
            <a:ext cx="3810000" cy="935037"/>
          </a:xfrm>
          <a:prstGeom prst="rect">
            <a:avLst/>
          </a:prstGeom>
        </p:spPr>
        <p:txBody>
          <a:bodyPr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  <a:defRPr/>
            </a:pPr>
            <a:r>
              <a:rPr lang="fr-FR" dirty="0"/>
              <a:t>	</a:t>
            </a:r>
          </a:p>
          <a:p>
            <a:pPr marL="0" indent="0">
              <a:buNone/>
              <a:defRPr/>
            </a:pPr>
            <a:r>
              <a:rPr lang="fr-FR" dirty="0"/>
              <a:t>Abidjan</a:t>
            </a:r>
          </a:p>
          <a:p>
            <a:pPr fontAlgn="auto">
              <a:defRPr/>
            </a:pPr>
            <a:endParaRPr lang="fr-FR" dirty="0"/>
          </a:p>
        </p:txBody>
      </p:sp>
      <p:pic>
        <p:nvPicPr>
          <p:cNvPr id="12301" name="Imag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302" y="3590925"/>
            <a:ext cx="1284287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re 1"/>
          <p:cNvSpPr txBox="1">
            <a:spLocks/>
          </p:cNvSpPr>
          <p:nvPr/>
        </p:nvSpPr>
        <p:spPr>
          <a:xfrm>
            <a:off x="2279650" y="588964"/>
            <a:ext cx="7054850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Localisation</a:t>
            </a:r>
            <a:endParaRPr lang="fr-FR" dirty="0" smtClean="0">
              <a:solidFill>
                <a:schemeClr val="accent1">
                  <a:lumMod val="60000"/>
                  <a:lumOff val="4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11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38" y="0"/>
            <a:ext cx="11483663" cy="6908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40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026911" y="2417311"/>
            <a:ext cx="4190588" cy="3997828"/>
          </a:xfrm>
        </p:spPr>
        <p:txBody>
          <a:bodyPr>
            <a:normAutofit/>
          </a:bodyPr>
          <a:lstStyle/>
          <a:p>
            <a:r>
              <a:rPr lang="fr-FR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Conseils;</a:t>
            </a:r>
          </a:p>
          <a:p>
            <a:r>
              <a:rPr lang="fr-FR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Externalisation ou BPO;</a:t>
            </a:r>
          </a:p>
          <a:p>
            <a:r>
              <a:rPr lang="fr-FR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fr-FR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upports</a:t>
            </a:r>
            <a:endParaRPr lang="fr-FR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279650" y="588964"/>
            <a:ext cx="7054850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</a:t>
            </a:r>
            <a:endParaRPr lang="fr-FR" dirty="0" smtClean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2" descr="RÃ©sultat de recherche d'images pour &quot;fonctions support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558" y="1631701"/>
            <a:ext cx="5207484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284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3071814" y="1700214"/>
            <a:ext cx="6161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b="1" dirty="0">
                <a:latin typeface="Arial" panose="020B0604020202020204" pitchFamily="34" charset="0"/>
              </a:rPr>
              <a:t>ORGA: Organisation, stratégie et études économiques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1865313" y="2581276"/>
            <a:ext cx="4572000" cy="2334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Clr>
                <a:schemeClr val="tx1"/>
              </a:buClr>
              <a:defRPr/>
            </a:pPr>
            <a:r>
              <a:rPr lang="fr-FR" sz="1600" b="1" dirty="0"/>
              <a:t>Organisation et stratégie :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ð"/>
              <a:defRPr/>
            </a:pPr>
            <a:r>
              <a:rPr lang="fr-FR" sz="1600" dirty="0">
                <a:sym typeface="Wingdings" panose="05000000000000000000" pitchFamily="2" charset="2"/>
              </a:rPr>
              <a:t>S</a:t>
            </a:r>
            <a:r>
              <a:rPr lang="fr-FR" sz="1600" dirty="0"/>
              <a:t>tratégie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Audit organisationnel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Accompagnement au changement des institutions et des entreprises</a:t>
            </a:r>
          </a:p>
          <a:p>
            <a:pPr>
              <a:buClr>
                <a:schemeClr val="tx1"/>
              </a:buClr>
              <a:defRPr/>
            </a:pPr>
            <a:endParaRPr lang="fr-FR" sz="1600" dirty="0"/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opérationnels</a:t>
            </a:r>
            <a:endParaRPr lang="fr-FR" dirty="0" smtClean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7079737" y="2637612"/>
            <a:ext cx="4572000" cy="1087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Clr>
                <a:schemeClr val="tx1"/>
              </a:buClr>
              <a:defRPr/>
            </a:pPr>
            <a:r>
              <a:rPr lang="fr-FR" sz="1600" b="1" dirty="0" smtClean="0"/>
              <a:t>Etudes économiques:</a:t>
            </a:r>
            <a:endParaRPr lang="fr-FR" sz="1600" b="1" dirty="0"/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ð"/>
              <a:defRPr/>
            </a:pPr>
            <a:r>
              <a:rPr lang="fr-FR" sz="1600" dirty="0" smtClean="0">
                <a:sym typeface="Wingdings" panose="05000000000000000000" pitchFamily="2" charset="2"/>
              </a:rPr>
              <a:t>Etudes sectorielles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ð"/>
              <a:defRPr/>
            </a:pPr>
            <a:r>
              <a:rPr lang="fr-FR" sz="1600" dirty="0" smtClean="0">
                <a:sym typeface="Wingdings" panose="05000000000000000000" pitchFamily="2" charset="2"/>
              </a:rPr>
              <a:t>Etudes d’impacts et d’appui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RÃ©sultat de recherche d'images pour &quot;ORGANISATION PNG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82460">
            <a:off x="8728668" y="2710499"/>
            <a:ext cx="4839805" cy="202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17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4707093" y="1700214"/>
            <a:ext cx="28905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b="1" dirty="0" smtClean="0">
                <a:latin typeface="Arial" panose="020B0604020202020204" pitchFamily="34" charset="0"/>
              </a:rPr>
              <a:t>FINANCE ET JURIDIQUE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1901824" y="2931057"/>
            <a:ext cx="4572000" cy="1725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Clr>
                <a:schemeClr val="tx1"/>
              </a:buClr>
              <a:defRPr/>
            </a:pPr>
            <a:r>
              <a:rPr lang="fr-FR" sz="1600" b="1" dirty="0" smtClean="0"/>
              <a:t>Finance et juridique:</a:t>
            </a:r>
            <a:endParaRPr lang="fr-FR" sz="1600" b="1" dirty="0"/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>
                <a:sym typeface="Wingdings" panose="05000000000000000000" pitchFamily="2" charset="2"/>
              </a:rPr>
              <a:t>I</a:t>
            </a:r>
            <a:r>
              <a:rPr lang="fr-FR" sz="1600" dirty="0"/>
              <a:t>ngénierie financière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Assistance juridique</a:t>
            </a:r>
          </a:p>
          <a:p>
            <a:pPr>
              <a:buClr>
                <a:schemeClr val="tx1"/>
              </a:buClr>
              <a:defRPr/>
            </a:pPr>
            <a:endParaRPr lang="fr-FR" sz="1600" dirty="0"/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opérationnels</a:t>
            </a:r>
            <a:endParaRPr lang="fr-FR" dirty="0" smtClean="0">
              <a:solidFill>
                <a:schemeClr val="accent1">
                  <a:lumMod val="60000"/>
                  <a:lumOff val="4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7065669" y="2931057"/>
            <a:ext cx="4572000" cy="1087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Clr>
                <a:schemeClr val="tx1"/>
              </a:buClr>
              <a:defRPr/>
            </a:pPr>
            <a:r>
              <a:rPr lang="fr-FR" sz="1600" b="1" dirty="0" smtClean="0"/>
              <a:t>Fusion et acquisition:</a:t>
            </a:r>
            <a:endParaRPr lang="fr-FR" sz="1600" b="1" dirty="0"/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ð"/>
              <a:defRPr/>
            </a:pPr>
            <a:r>
              <a:rPr lang="fr-FR" sz="1600" dirty="0" smtClean="0">
                <a:sym typeface="Wingdings" panose="05000000000000000000" pitchFamily="2" charset="2"/>
              </a:rPr>
              <a:t>Valorisation d’entreprise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ð"/>
              <a:defRPr/>
            </a:pPr>
            <a:r>
              <a:rPr lang="fr-FR" sz="1600" dirty="0" smtClean="0">
                <a:sym typeface="Wingdings" panose="05000000000000000000" pitchFamily="2" charset="2"/>
              </a:rPr>
              <a:t>Rapprochement d’entreprise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RÃ©sultat de recherche d'images pour &quot;FINANCE PNG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191" y="4018534"/>
            <a:ext cx="2711874" cy="271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29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3709008" y="1700214"/>
            <a:ext cx="48867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b="1" dirty="0" smtClean="0">
                <a:latin typeface="Arial" panose="020B0604020202020204" pitchFamily="34" charset="0"/>
              </a:rPr>
              <a:t>AMOA : Assistance à la Maitrise d’Ouvrage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2588783" y="2587372"/>
            <a:ext cx="7770081" cy="2346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 smtClean="0">
                <a:sym typeface="Wingdings" panose="05000000000000000000" pitchFamily="2" charset="2"/>
              </a:rPr>
              <a:t>R</a:t>
            </a:r>
            <a:r>
              <a:rPr lang="fr-FR" sz="1600" dirty="0" smtClean="0"/>
              <a:t>éalisation </a:t>
            </a:r>
            <a:r>
              <a:rPr lang="fr-FR" sz="1600" dirty="0"/>
              <a:t>des schémas directeurs informatiques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Rédaction de cahiers des charges utilisateurs et expressions de besoins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Assistance lors de la mise en œuvre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Assistance lors des recettes utilisateurs et/ou démarrage des nouvelles applications</a:t>
            </a:r>
          </a:p>
          <a:p>
            <a:pPr>
              <a:buClr>
                <a:schemeClr val="tx1"/>
              </a:buClr>
              <a:defRPr/>
            </a:pPr>
            <a:endParaRPr lang="fr-FR" sz="1600" dirty="0"/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opérationnels</a:t>
            </a:r>
            <a:endParaRPr lang="fr-FR" dirty="0" smtClean="0">
              <a:solidFill>
                <a:schemeClr val="accent1">
                  <a:lumMod val="60000"/>
                  <a:lumOff val="4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4" name="Picture 2" descr="RÃ©sultat de recherche d'images pour &quot;AMOA PNG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008" y="4459297"/>
            <a:ext cx="5944519" cy="198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72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5271362" y="1573790"/>
            <a:ext cx="17620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b="1" dirty="0" smtClean="0">
                <a:latin typeface="Arial" panose="020B0604020202020204" pitchFamily="34" charset="0"/>
              </a:rPr>
              <a:t>RH CONSEILS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3362507" y="2590379"/>
            <a:ext cx="7770081" cy="2474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 smtClean="0">
                <a:sym typeface="Wingdings" panose="05000000000000000000" pitchFamily="2" charset="2"/>
              </a:rPr>
              <a:t>R</a:t>
            </a:r>
            <a:r>
              <a:rPr lang="fr-FR" sz="1600" dirty="0" smtClean="0"/>
              <a:t>ecrutement de </a:t>
            </a:r>
            <a:r>
              <a:rPr lang="fr-FR" sz="1600" dirty="0"/>
              <a:t>personnel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Formation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Évaluation </a:t>
            </a:r>
            <a:r>
              <a:rPr lang="fr-FR" sz="1600" dirty="0" smtClean="0"/>
              <a:t>&amp; bilans </a:t>
            </a:r>
            <a:r>
              <a:rPr lang="fr-FR" sz="1600" dirty="0"/>
              <a:t>de compétences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 smtClean="0"/>
              <a:t>Audit </a:t>
            </a:r>
            <a:r>
              <a:rPr lang="fr-FR" sz="1600" dirty="0"/>
              <a:t>social &amp; GRH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Assistance à la mise en place des processus RH</a:t>
            </a:r>
          </a:p>
          <a:p>
            <a:pPr>
              <a:buClr>
                <a:schemeClr val="tx1"/>
              </a:buClr>
              <a:defRPr/>
            </a:pPr>
            <a:endParaRPr lang="fr-FR" sz="1600" dirty="0"/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opérationnels</a:t>
            </a:r>
            <a:endParaRPr lang="fr-FR" dirty="0" smtClean="0">
              <a:solidFill>
                <a:schemeClr val="accent1">
                  <a:lumMod val="60000"/>
                  <a:lumOff val="4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098" name="Picture 2" descr="RÃ©sultat de recherche d'images pour &quot;RH PNG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156" y="4587766"/>
            <a:ext cx="3916157" cy="269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7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5583837" y="2118797"/>
            <a:ext cx="889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b="1" dirty="0" smtClean="0">
                <a:latin typeface="Arial" panose="020B0604020202020204" pitchFamily="34" charset="0"/>
              </a:rPr>
              <a:t>AUDIT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4797412" y="3321899"/>
            <a:ext cx="7770081" cy="135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 smtClean="0">
                <a:sym typeface="Wingdings" panose="05000000000000000000" pitchFamily="2" charset="2"/>
              </a:rPr>
              <a:t>Commissariat aux comptes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 smtClean="0">
                <a:sym typeface="Wingdings" panose="05000000000000000000" pitchFamily="2" charset="2"/>
              </a:rPr>
              <a:t>Audit sectoriel </a:t>
            </a:r>
            <a:endParaRPr lang="fr-FR" sz="1600" dirty="0"/>
          </a:p>
          <a:p>
            <a:pPr>
              <a:buClr>
                <a:schemeClr val="tx1"/>
              </a:buClr>
              <a:defRPr/>
            </a:pPr>
            <a:endParaRPr lang="fr-FR" sz="1600" dirty="0"/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opérationnels</a:t>
            </a:r>
            <a:endParaRPr lang="fr-FR" dirty="0" smtClean="0">
              <a:solidFill>
                <a:schemeClr val="accent1">
                  <a:lumMod val="60000"/>
                  <a:lumOff val="4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223" y="4953000"/>
            <a:ext cx="24003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672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4920852" y="1573790"/>
            <a:ext cx="24630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b="1" dirty="0" smtClean="0">
                <a:latin typeface="Arial" panose="020B0604020202020204" pitchFamily="34" charset="0"/>
              </a:rPr>
              <a:t>BPO COMPTABILITE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3362507" y="2590379"/>
            <a:ext cx="7770081" cy="1333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Gestion de la comptabilité pour compte de tiers nationaux et internationaux</a:t>
            </a:r>
          </a:p>
          <a:p>
            <a:pPr lvl="1" indent="-342900" algn="just">
              <a:buFont typeface="Wingdings" panose="05000000000000000000" pitchFamily="2" charset="2"/>
              <a:buChar char="ü"/>
              <a:defRPr/>
            </a:pPr>
            <a:r>
              <a:rPr lang="fr-FR" sz="1600" dirty="0"/>
              <a:t>Tenue de la comptabilité</a:t>
            </a:r>
          </a:p>
          <a:p>
            <a:pPr lvl="1" indent="-342900" algn="just">
              <a:buFont typeface="Wingdings" panose="05000000000000000000" pitchFamily="2" charset="2"/>
              <a:buChar char="ü"/>
              <a:defRPr/>
            </a:pPr>
            <a:r>
              <a:rPr lang="fr-FR" sz="1600" dirty="0"/>
              <a:t>Révision des </a:t>
            </a:r>
            <a:r>
              <a:rPr lang="fr-FR" sz="1600" dirty="0" smtClean="0"/>
              <a:t>comptes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opérationnels</a:t>
            </a:r>
            <a:endParaRPr lang="fr-FR" dirty="0" smtClean="0">
              <a:solidFill>
                <a:schemeClr val="accent3">
                  <a:lumMod val="60000"/>
                  <a:lumOff val="4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999" y="5391150"/>
            <a:ext cx="26289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194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5611201" y="1825165"/>
            <a:ext cx="10823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b="1" dirty="0" smtClean="0">
                <a:latin typeface="Arial" panose="020B0604020202020204" pitchFamily="34" charset="0"/>
              </a:rPr>
              <a:t>BPO RH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2808509" y="2712847"/>
            <a:ext cx="7770081" cy="1713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 smtClean="0"/>
              <a:t>Gestion administrative </a:t>
            </a:r>
            <a:r>
              <a:rPr lang="fr-FR" sz="1600" dirty="0"/>
              <a:t>du personnel pour le compte de tiers, </a:t>
            </a:r>
            <a:endParaRPr lang="fr-FR" sz="1600" dirty="0" smtClean="0"/>
          </a:p>
          <a:p>
            <a:pPr marL="0" indent="0" algn="just">
              <a:buNone/>
              <a:defRPr/>
            </a:pPr>
            <a:r>
              <a:rPr lang="fr-FR" sz="1600" dirty="0" smtClean="0"/>
              <a:t>notamment </a:t>
            </a:r>
            <a:r>
              <a:rPr lang="fr-FR" sz="1600" dirty="0"/>
              <a:t>la paie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Portage salarial ou mise à disposition de personnel</a:t>
            </a:r>
          </a:p>
          <a:p>
            <a:pPr lvl="1" indent="-342900" algn="just">
              <a:buFont typeface="Wingdings" panose="05000000000000000000" pitchFamily="2" charset="2"/>
              <a:buChar char="ü"/>
              <a:defRPr/>
            </a:pPr>
            <a:endParaRPr lang="fr-FR" sz="1600" dirty="0" smtClean="0"/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opérationnels</a:t>
            </a:r>
            <a:endParaRPr lang="fr-FR" dirty="0" smtClean="0">
              <a:solidFill>
                <a:schemeClr val="accent3">
                  <a:lumMod val="60000"/>
                  <a:lumOff val="4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925" y="4434812"/>
            <a:ext cx="3898900" cy="249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627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4236854" y="1825165"/>
            <a:ext cx="3831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b="1" dirty="0" smtClean="0">
                <a:latin typeface="Arial" panose="020B0604020202020204" pitchFamily="34" charset="0"/>
              </a:rPr>
              <a:t>COMMERCIAL COMMUNICATION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2808509" y="2712847"/>
            <a:ext cx="7770081" cy="1713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Traitement des AMI (Appels aux Manifestations </a:t>
            </a:r>
            <a:r>
              <a:rPr lang="fr-FR" sz="1600" dirty="0" smtClean="0"/>
              <a:t>d’Intérêts)</a:t>
            </a:r>
            <a:endParaRPr lang="fr-FR" sz="1600" dirty="0"/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Participation aux prospections clients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Appui à la recherche des experts et consultants externes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Activités de communication du Groupe</a:t>
            </a:r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supports</a:t>
            </a:r>
            <a:endParaRPr lang="fr-FR" dirty="0" smtClean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604" y="5029200"/>
            <a:ext cx="24955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689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5822802" y="1825165"/>
            <a:ext cx="6591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b="1" dirty="0" smtClean="0">
                <a:latin typeface="Arial" panose="020B0604020202020204" pitchFamily="34" charset="0"/>
              </a:rPr>
              <a:t>DAF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2808509" y="2712847"/>
            <a:ext cx="7770081" cy="2334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Supervision des travaux comptables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Gestion de la fiscalité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Gestion de la trésorerie et  du contrôle de gestion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Gestion des immobilisations, des assurances et de la logistique de la société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Gestion administrative des ressources humaines</a:t>
            </a:r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supports</a:t>
            </a:r>
            <a:endParaRPr lang="fr-FR" dirty="0" smtClean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193" y="5369337"/>
            <a:ext cx="2209653" cy="148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783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5784330" y="1825165"/>
            <a:ext cx="7360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dirty="0" smtClean="0">
                <a:latin typeface="Arial" panose="020B0604020202020204" pitchFamily="34" charset="0"/>
              </a:rPr>
              <a:t>INFO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3497826" y="2755224"/>
            <a:ext cx="7770081" cy="135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342906" indent="-342906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Courier New" panose="02070309020205020404" pitchFamily="49" charset="0"/>
              <a:buChar char="o"/>
              <a:defRPr/>
            </a:pPr>
            <a:r>
              <a:rPr lang="fr-FR" sz="1600" dirty="0"/>
              <a:t>Gestion du parc informatique</a:t>
            </a:r>
          </a:p>
          <a:p>
            <a:pPr marL="342906" indent="-342906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Courier New" panose="02070309020205020404" pitchFamily="49" charset="0"/>
              <a:buChar char="o"/>
              <a:defRPr/>
            </a:pPr>
            <a:r>
              <a:rPr lang="fr-FR" sz="1600" dirty="0" smtClean="0"/>
              <a:t>Administration système et </a:t>
            </a:r>
            <a:r>
              <a:rPr lang="fr-FR" sz="1600" dirty="0"/>
              <a:t>réseau</a:t>
            </a:r>
          </a:p>
          <a:p>
            <a:pPr marL="342906" indent="-342906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Courier New" panose="02070309020205020404" pitchFamily="49" charset="0"/>
              <a:buChar char="o"/>
              <a:defRPr/>
            </a:pPr>
            <a:r>
              <a:rPr lang="fr-FR" sz="1600" dirty="0" smtClean="0"/>
              <a:t>Administration de bases </a:t>
            </a:r>
            <a:r>
              <a:rPr lang="fr-FR" sz="1600" dirty="0"/>
              <a:t>de </a:t>
            </a:r>
            <a:r>
              <a:rPr lang="fr-FR" sz="1600" dirty="0" smtClean="0"/>
              <a:t>données et d’applications</a:t>
            </a:r>
            <a:endParaRPr lang="fr-FR" sz="1600" dirty="0"/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supports</a:t>
            </a:r>
            <a:endParaRPr lang="fr-FR" dirty="0" smtClean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529" y="4856162"/>
            <a:ext cx="29337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476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5354726" y="1825165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dirty="0" smtClean="0">
                <a:latin typeface="Arial" panose="020B0604020202020204" pitchFamily="34" charset="0"/>
              </a:rPr>
              <a:t>RH INTERNE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3497826" y="2755224"/>
            <a:ext cx="7770081" cy="2088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Recrutement interne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Formation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Gestion des compétences des collaborateurs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Relations sociales</a:t>
            </a:r>
          </a:p>
          <a:p>
            <a:pPr algn="just">
              <a:buFont typeface="Wingdings" panose="05000000000000000000" pitchFamily="2" charset="2"/>
              <a:buChar char="ð"/>
              <a:defRPr/>
            </a:pPr>
            <a:r>
              <a:rPr lang="fr-FR" sz="1600" dirty="0"/>
              <a:t>Vie sociale et communication RH interne</a:t>
            </a:r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supports</a:t>
            </a:r>
            <a:endParaRPr lang="fr-FR" dirty="0" smtClean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743" y="5029660"/>
            <a:ext cx="2532861" cy="1828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003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5524120" y="1528291"/>
            <a:ext cx="11721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sz="1800" dirty="0" smtClean="0">
                <a:latin typeface="Arial" panose="020B0604020202020204" pitchFamily="34" charset="0"/>
              </a:rPr>
              <a:t>QUALITE</a:t>
            </a:r>
            <a:endParaRPr lang="fr-FR" sz="1800" dirty="0">
              <a:latin typeface="Arial" panose="020B0604020202020204" pitchFamily="34" charset="0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2897919" y="2178977"/>
            <a:ext cx="7770081" cy="4452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tabLst>
                <a:tab pos="914400" algn="l"/>
              </a:tabLst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indent="0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None/>
              <a:defRPr/>
            </a:pPr>
            <a:r>
              <a:rPr lang="fr-FR" sz="1600" dirty="0"/>
              <a:t>Garant du respect des procédures internes face aux exigences de la norme ISO </a:t>
            </a:r>
            <a:r>
              <a:rPr lang="fr-FR" sz="1600" dirty="0" smtClean="0"/>
              <a:t>9001:</a:t>
            </a:r>
            <a:endParaRPr lang="fr-FR" sz="1600" dirty="0"/>
          </a:p>
          <a:p>
            <a:pPr marL="742962" lvl="1" indent="-285755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  <a:defRPr/>
            </a:pPr>
            <a:r>
              <a:rPr lang="fr-FR" sz="1600" dirty="0"/>
              <a:t>Gestion de la documentation : mise à jour des procédures internes et gestion des informations documentées</a:t>
            </a:r>
          </a:p>
          <a:p>
            <a:pPr marL="742962" lvl="1" indent="-285755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  <a:defRPr/>
            </a:pPr>
            <a:r>
              <a:rPr lang="fr-FR" sz="1600" dirty="0"/>
              <a:t>Sensibilisation à la qualité</a:t>
            </a:r>
          </a:p>
          <a:p>
            <a:pPr marL="742962" lvl="1" indent="-285755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  <a:defRPr/>
            </a:pPr>
            <a:r>
              <a:rPr lang="fr-FR" sz="1600" dirty="0"/>
              <a:t>Réalisation  des audits internes</a:t>
            </a:r>
          </a:p>
          <a:p>
            <a:pPr marL="742962" lvl="1" indent="-285755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  <a:defRPr/>
            </a:pPr>
            <a:r>
              <a:rPr lang="fr-FR" sz="1600" dirty="0"/>
              <a:t>Écoute client</a:t>
            </a:r>
          </a:p>
          <a:p>
            <a:pPr marL="742962" lvl="1" indent="-285755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  <a:defRPr/>
            </a:pPr>
            <a:r>
              <a:rPr lang="fr-FR" sz="1600" dirty="0"/>
              <a:t>Mesure, analyse et amélioration</a:t>
            </a:r>
          </a:p>
          <a:p>
            <a:pPr marL="0" indent="0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None/>
              <a:defRPr/>
            </a:pPr>
            <a:endParaRPr lang="fr-FR" sz="1600" dirty="0"/>
          </a:p>
          <a:p>
            <a:pPr marL="342906" indent="-342906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ð"/>
              <a:defRPr/>
            </a:pPr>
            <a:endParaRPr lang="fr-FR" sz="1600" dirty="0"/>
          </a:p>
          <a:p>
            <a:pPr marL="0" indent="0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None/>
              <a:defRPr/>
            </a:pPr>
            <a:endParaRPr lang="fr-FR" sz="1600" dirty="0"/>
          </a:p>
          <a:p>
            <a:pPr marL="0" indent="0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None/>
              <a:defRPr/>
            </a:pPr>
            <a:endParaRPr lang="fr-FR" sz="1600" dirty="0"/>
          </a:p>
          <a:p>
            <a:pPr lvl="1" algn="just">
              <a:lnSpc>
                <a:spcPct val="107000"/>
              </a:lnSpc>
              <a:spcBef>
                <a:spcPct val="0"/>
              </a:spcBef>
              <a:buClr>
                <a:schemeClr val="tx1"/>
              </a:buClr>
              <a:buSzTx/>
              <a:buFont typeface="Courier New" panose="02070309020205020404" pitchFamily="49" charset="0"/>
              <a:buChar char="o"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départements supports</a:t>
            </a:r>
            <a:endParaRPr lang="fr-FR" dirty="0" smtClean="0">
              <a:solidFill>
                <a:srgbClr val="FFC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258" y="5474920"/>
            <a:ext cx="324802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64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Espace réservé du contenu 2"/>
          <p:cNvSpPr>
            <a:spLocks noGrp="1"/>
          </p:cNvSpPr>
          <p:nvPr>
            <p:ph idx="1"/>
          </p:nvPr>
        </p:nvSpPr>
        <p:spPr>
          <a:xfrm>
            <a:off x="2401888" y="1557339"/>
            <a:ext cx="7772400" cy="4687887"/>
          </a:xfrm>
        </p:spPr>
        <p:txBody>
          <a:bodyPr>
            <a:normAutofit/>
          </a:bodyPr>
          <a:lstStyle/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sz="1600" dirty="0" smtClean="0">
                <a:latin typeface="Century Gothic" panose="020B0502020202020204" pitchFamily="34" charset="0"/>
              </a:rPr>
              <a:t>CDI (Contrat à Durée Indéterminée)</a:t>
            </a:r>
          </a:p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sz="1600" dirty="0" smtClean="0">
                <a:latin typeface="Century Gothic" panose="020B0502020202020204" pitchFamily="34" charset="0"/>
              </a:rPr>
              <a:t>CDD (Contrat à Durée Déterminée)</a:t>
            </a:r>
          </a:p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sz="1600" dirty="0" smtClean="0">
                <a:latin typeface="Century Gothic" panose="020B0502020202020204" pitchFamily="34" charset="0"/>
              </a:rPr>
              <a:t>Convention de stage/ d’alternance</a:t>
            </a:r>
          </a:p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sz="1600" dirty="0" smtClean="0">
                <a:latin typeface="Century Gothic" panose="020B0502020202020204" pitchFamily="34" charset="0"/>
              </a:rPr>
              <a:t>Période d’essai</a:t>
            </a:r>
          </a:p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sz="1600" dirty="0" smtClean="0">
                <a:latin typeface="Century Gothic" panose="020B0502020202020204" pitchFamily="34" charset="0"/>
              </a:rPr>
              <a:t>Rupture du contrat de travail</a:t>
            </a:r>
          </a:p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sz="1600" dirty="0" smtClean="0">
                <a:latin typeface="Century Gothic" panose="020B0502020202020204" pitchFamily="34" charset="0"/>
              </a:rPr>
              <a:t>Pièces administratives à fournir</a:t>
            </a:r>
          </a:p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sz="1600" dirty="0" smtClean="0">
                <a:latin typeface="Century Gothic" panose="020B0502020202020204" pitchFamily="34" charset="0"/>
              </a:rPr>
              <a:t>Bulletin de paie</a:t>
            </a:r>
          </a:p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sz="1600" dirty="0" err="1" smtClean="0">
                <a:latin typeface="Century Gothic" panose="020B0502020202020204" pitchFamily="34" charset="0"/>
              </a:rPr>
              <a:t>Perdiem</a:t>
            </a:r>
            <a:endParaRPr lang="fr-FR" sz="1600" dirty="0" smtClean="0">
              <a:latin typeface="Century Gothic" panose="020B0502020202020204" pitchFamily="34" charset="0"/>
            </a:endParaRPr>
          </a:p>
        </p:txBody>
      </p:sp>
      <p:pic>
        <p:nvPicPr>
          <p:cNvPr id="29701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2938" y="5232400"/>
            <a:ext cx="183515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Administration du personnel</a:t>
            </a:r>
            <a:endParaRPr lang="fr-FR" dirty="0" smtClean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5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Espace réservé du contenu 2"/>
          <p:cNvSpPr>
            <a:spLocks noGrp="1"/>
          </p:cNvSpPr>
          <p:nvPr>
            <p:ph idx="1"/>
          </p:nvPr>
        </p:nvSpPr>
        <p:spPr>
          <a:xfrm>
            <a:off x="2401888" y="1557339"/>
            <a:ext cx="7772400" cy="4687887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 panose="020B0502020202020204" pitchFamily="34" charset="0"/>
              </a:rPr>
              <a:t>Droits au congé (1,83 jours par mois)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 panose="020B0502020202020204" pitchFamily="34" charset="0"/>
              </a:rPr>
              <a:t>Modalité de demande de congé (Une semaine)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 panose="020B0502020202020204" pitchFamily="34" charset="0"/>
              </a:rPr>
              <a:t>Demande sur </a:t>
            </a:r>
            <a:r>
              <a:rPr lang="fr-FR" sz="1600" dirty="0" err="1">
                <a:latin typeface="Century Gothic" panose="020B0502020202020204" pitchFamily="34" charset="0"/>
              </a:rPr>
              <a:t>Libertempo</a:t>
            </a:r>
            <a:r>
              <a:rPr lang="fr-FR" sz="1600" dirty="0">
                <a:latin typeface="Century Gothic" panose="020B0502020202020204" pitchFamily="34" charset="0"/>
              </a:rPr>
              <a:t>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 panose="020B0502020202020204" pitchFamily="34" charset="0"/>
              </a:rPr>
              <a:t>Droit de </a:t>
            </a:r>
            <a:r>
              <a:rPr lang="fr-FR" sz="1600" dirty="0" smtClean="0">
                <a:latin typeface="Century Gothic" panose="020B0502020202020204" pitchFamily="34" charset="0"/>
              </a:rPr>
              <a:t>récupération</a:t>
            </a:r>
            <a:endParaRPr lang="fr-FR" sz="1600" dirty="0">
              <a:latin typeface="Century Gothic" panose="020B0502020202020204" pitchFamily="34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 panose="020B0502020202020204" pitchFamily="34" charset="0"/>
              </a:rPr>
              <a:t>Permissions exceptionnelles</a:t>
            </a:r>
          </a:p>
          <a:p>
            <a:endParaRPr lang="fr-FR" sz="1600" dirty="0">
              <a:latin typeface="Century Gothic" panose="020B0502020202020204" pitchFamily="34" charset="0"/>
            </a:endParaRPr>
          </a:p>
          <a:p>
            <a:pPr eaLnBrk="1" hangingPunct="1">
              <a:buFont typeface="Courier New" panose="02070309020205020404" pitchFamily="49" charset="0"/>
              <a:buChar char="o"/>
            </a:pPr>
            <a:endParaRPr lang="fr-FR" sz="1600" dirty="0" smtClean="0">
              <a:latin typeface="Century Gothic" panose="020B0502020202020204" pitchFamily="34" charset="0"/>
            </a:endParaRP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Droit au congé</a:t>
            </a:r>
            <a:endParaRPr lang="fr-FR" dirty="0" smtClean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356" y="5013325"/>
            <a:ext cx="3240087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94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Espace réservé du contenu 2"/>
          <p:cNvSpPr>
            <a:spLocks noGrp="1"/>
          </p:cNvSpPr>
          <p:nvPr>
            <p:ph idx="1"/>
          </p:nvPr>
        </p:nvSpPr>
        <p:spPr>
          <a:xfrm>
            <a:off x="2401888" y="1557339"/>
            <a:ext cx="7772400" cy="4687887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 panose="020B0502020202020204" pitchFamily="34" charset="0"/>
              </a:rPr>
              <a:t>Boite à outils RH : Supports de formation et règlement intérieur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 panose="020B0502020202020204" pitchFamily="34" charset="0"/>
              </a:rPr>
              <a:t>SMQ : fiche de poste, fiche fin période d’essai, fiche d’évaluation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 panose="020B0502020202020204" pitchFamily="34" charset="0"/>
              </a:rPr>
              <a:t>Livret d’accueil, manuel du consultant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r-FR" sz="1600" dirty="0">
                <a:latin typeface="Century Gothic" panose="020B0502020202020204" pitchFamily="34" charset="0"/>
              </a:rPr>
              <a:t>Tableau d’affichage à consulter</a:t>
            </a:r>
          </a:p>
          <a:p>
            <a:pPr>
              <a:buFont typeface="Courier New" panose="02070309020205020404" pitchFamily="49" charset="0"/>
              <a:buChar char="o"/>
            </a:pPr>
            <a:endParaRPr lang="fr-FR" sz="1600" dirty="0">
              <a:latin typeface="Century Gothic" panose="020B0502020202020204" pitchFamily="34" charset="0"/>
            </a:endParaRPr>
          </a:p>
          <a:p>
            <a:pPr eaLnBrk="1" hangingPunct="1">
              <a:buFont typeface="Courier New" panose="02070309020205020404" pitchFamily="49" charset="0"/>
              <a:buChar char="o"/>
            </a:pPr>
            <a:endParaRPr lang="fr-FR" sz="1600" dirty="0" smtClean="0">
              <a:latin typeface="Century Gothic" panose="020B0502020202020204" pitchFamily="34" charset="0"/>
            </a:endParaRP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 documents RH</a:t>
            </a:r>
            <a:endParaRPr lang="fr-FR" dirty="0" smtClean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166" y="5036234"/>
            <a:ext cx="2838778" cy="18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82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Espace réservé du contenu 2"/>
          <p:cNvSpPr>
            <a:spLocks noGrp="1"/>
          </p:cNvSpPr>
          <p:nvPr>
            <p:ph idx="1"/>
          </p:nvPr>
        </p:nvSpPr>
        <p:spPr>
          <a:xfrm>
            <a:off x="1774825" y="1052514"/>
            <a:ext cx="7772400" cy="5337175"/>
          </a:xfrm>
        </p:spPr>
        <p:txBody>
          <a:bodyPr/>
          <a:lstStyle/>
          <a:p>
            <a:pPr marL="0" indent="0" algn="ctr">
              <a:buNone/>
            </a:pPr>
            <a:r>
              <a:rPr lang="fr-FR" b="1" smtClean="0"/>
              <a:t>Evolution verticale</a:t>
            </a:r>
          </a:p>
          <a:p>
            <a:pPr marL="0" indent="0">
              <a:buNone/>
            </a:pPr>
            <a:endParaRPr lang="fr-FR" smtClean="0"/>
          </a:p>
          <a:p>
            <a:pPr marL="0" indent="0">
              <a:buNone/>
            </a:pPr>
            <a:r>
              <a:rPr lang="fr-FR" smtClean="0"/>
              <a:t> </a:t>
            </a:r>
          </a:p>
        </p:txBody>
      </p:sp>
      <p:pic>
        <p:nvPicPr>
          <p:cNvPr id="29700" name="Imag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5463" y="1704976"/>
            <a:ext cx="8621712" cy="511016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pic>
      <p:sp>
        <p:nvSpPr>
          <p:cNvPr id="6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Evolution professionnelle</a:t>
            </a:r>
            <a:endParaRPr lang="fr-FR" dirty="0" smtClean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91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re 1"/>
          <p:cNvSpPr>
            <a:spLocks noGrp="1"/>
          </p:cNvSpPr>
          <p:nvPr>
            <p:ph type="title"/>
          </p:nvPr>
        </p:nvSpPr>
        <p:spPr>
          <a:xfrm>
            <a:off x="3882230" y="1524795"/>
            <a:ext cx="5183188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fr-FR" sz="2000" b="1" dirty="0" smtClean="0"/>
              <a:t>LES CRITERES</a:t>
            </a:r>
            <a:endParaRPr lang="fr-FR" sz="2000" b="1" dirty="0"/>
          </a:p>
        </p:txBody>
      </p:sp>
      <p:sp>
        <p:nvSpPr>
          <p:cNvPr id="26627" name="Espace réservé du contenu 2"/>
          <p:cNvSpPr>
            <a:spLocks noGrp="1"/>
          </p:cNvSpPr>
          <p:nvPr>
            <p:ph idx="1"/>
          </p:nvPr>
        </p:nvSpPr>
        <p:spPr>
          <a:xfrm>
            <a:off x="2279649" y="2203451"/>
            <a:ext cx="7632700" cy="5265738"/>
          </a:xfrm>
        </p:spPr>
        <p:txBody>
          <a:bodyPr rtlCol="0">
            <a:normAutofit/>
          </a:bodyPr>
          <a:lstStyle/>
          <a:p>
            <a:pPr marL="342906" indent="-342906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fr-FR" sz="1600" dirty="0" smtClean="0">
                <a:latin typeface="Century Gothic" panose="020B0502020202020204" pitchFamily="34" charset="0"/>
              </a:rPr>
              <a:t>Critères </a:t>
            </a:r>
            <a:r>
              <a:rPr lang="fr-FR" sz="1600" dirty="0">
                <a:latin typeface="Century Gothic" panose="020B0502020202020204" pitchFamily="34" charset="0"/>
              </a:rPr>
              <a:t>de passage d’une catégorie à l’autre, selon la </a:t>
            </a:r>
            <a:r>
              <a:rPr lang="fr-FR" sz="1600" dirty="0" smtClean="0">
                <a:latin typeface="Century Gothic" panose="020B0502020202020204" pitchFamily="34" charset="0"/>
              </a:rPr>
              <a:t>filière :</a:t>
            </a:r>
          </a:p>
          <a:p>
            <a:pPr marL="1143020" lvl="2" indent="-228604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  <a:defRPr/>
            </a:pPr>
            <a:r>
              <a:rPr lang="fr-FR" dirty="0">
                <a:latin typeface="Century Gothic" panose="020B0502020202020204" pitchFamily="34" charset="0"/>
              </a:rPr>
              <a:t> </a:t>
            </a:r>
            <a:r>
              <a:rPr lang="fr-FR" dirty="0" smtClean="0">
                <a:latin typeface="Century Gothic" panose="020B0502020202020204" pitchFamily="34" charset="0"/>
              </a:rPr>
              <a:t>Expériences;</a:t>
            </a:r>
            <a:endParaRPr lang="fr-FR" dirty="0">
              <a:latin typeface="Century Gothic" panose="020B0502020202020204" pitchFamily="34" charset="0"/>
            </a:endParaRPr>
          </a:p>
          <a:p>
            <a:pPr marL="1143020" lvl="2" indent="-228604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  <a:defRPr/>
            </a:pPr>
            <a:r>
              <a:rPr lang="fr-FR" dirty="0">
                <a:latin typeface="Century Gothic" panose="020B0502020202020204" pitchFamily="34" charset="0"/>
              </a:rPr>
              <a:t> Évaluation des compétences requises (atteinte des objectifs</a:t>
            </a:r>
            <a:r>
              <a:rPr lang="fr-FR" dirty="0" smtClean="0">
                <a:latin typeface="Century Gothic" panose="020B0502020202020204" pitchFamily="34" charset="0"/>
              </a:rPr>
              <a:t>).</a:t>
            </a:r>
            <a:endParaRPr lang="fr-FR" dirty="0">
              <a:latin typeface="Century Gothic" panose="020B0502020202020204" pitchFamily="34" charset="0"/>
            </a:endParaRPr>
          </a:p>
          <a:p>
            <a:pPr marL="342906" indent="-342906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fr-FR" sz="1600" dirty="0">
                <a:latin typeface="Century Gothic" panose="020B0502020202020204" pitchFamily="34" charset="0"/>
              </a:rPr>
              <a:t>Évaluation se rapportant à </a:t>
            </a:r>
            <a:r>
              <a:rPr lang="fr-FR" sz="1600" dirty="0" smtClean="0">
                <a:latin typeface="Century Gothic" panose="020B0502020202020204" pitchFamily="34" charset="0"/>
              </a:rPr>
              <a:t>2 </a:t>
            </a:r>
            <a:r>
              <a:rPr lang="fr-FR" sz="1600" dirty="0">
                <a:latin typeface="Century Gothic" panose="020B0502020202020204" pitchFamily="34" charset="0"/>
              </a:rPr>
              <a:t>dimensions :</a:t>
            </a:r>
          </a:p>
          <a:p>
            <a:pPr marL="1143020" lvl="2" indent="-228604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  <a:defRPr/>
            </a:pPr>
            <a:r>
              <a:rPr lang="fr-FR" dirty="0">
                <a:latin typeface="Century Gothic" panose="020B0502020202020204" pitchFamily="34" charset="0"/>
              </a:rPr>
              <a:t> La </a:t>
            </a:r>
            <a:r>
              <a:rPr lang="fr-FR" dirty="0" smtClean="0">
                <a:latin typeface="Century Gothic" panose="020B0502020202020204" pitchFamily="34" charset="0"/>
              </a:rPr>
              <a:t>performance;</a:t>
            </a:r>
            <a:endParaRPr lang="fr-FR" dirty="0">
              <a:latin typeface="Century Gothic" panose="020B0502020202020204" pitchFamily="34" charset="0"/>
            </a:endParaRPr>
          </a:p>
          <a:p>
            <a:pPr marL="1143020" lvl="2" indent="-228604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ü"/>
              <a:defRPr/>
            </a:pPr>
            <a:r>
              <a:rPr lang="fr-FR" dirty="0">
                <a:latin typeface="Century Gothic" panose="020B0502020202020204" pitchFamily="34" charset="0"/>
              </a:rPr>
              <a:t>Les compétences (Savoir être, Savoir faire, Savoir</a:t>
            </a:r>
            <a:r>
              <a:rPr lang="fr-FR" dirty="0" smtClean="0">
                <a:latin typeface="Century Gothic" panose="020B0502020202020204" pitchFamily="34" charset="0"/>
              </a:rPr>
              <a:t>).</a:t>
            </a:r>
            <a:endParaRPr lang="fr-FR" dirty="0">
              <a:latin typeface="Century Gothic" panose="020B0502020202020204" pitchFamily="34" charset="0"/>
            </a:endParaRPr>
          </a:p>
          <a:p>
            <a:pPr marL="0" indent="0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None/>
              <a:defRPr/>
            </a:pPr>
            <a:endParaRPr lang="fr-FR" sz="1600" dirty="0" smtClean="0">
              <a:latin typeface="Century Gothic" panose="020B0502020202020204" pitchFamily="34" charset="0"/>
            </a:endParaRPr>
          </a:p>
          <a:p>
            <a:pPr marL="0" indent="0" algn="just" defTabSz="457207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None/>
              <a:defRPr/>
            </a:pPr>
            <a:r>
              <a:rPr lang="fr-FR" sz="1600" dirty="0" smtClean="0">
                <a:latin typeface="Century Gothic" panose="020B0502020202020204" pitchFamily="34" charset="0"/>
              </a:rPr>
              <a:t> </a:t>
            </a:r>
          </a:p>
        </p:txBody>
      </p:sp>
      <p:pic>
        <p:nvPicPr>
          <p:cNvPr id="33796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788" y="5297489"/>
            <a:ext cx="28384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Evolution professionnelle</a:t>
            </a:r>
            <a:endParaRPr lang="fr-FR" dirty="0" smtClean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9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Espace réservé du contenu 2"/>
          <p:cNvSpPr>
            <a:spLocks noGrp="1"/>
          </p:cNvSpPr>
          <p:nvPr>
            <p:ph idx="1"/>
          </p:nvPr>
        </p:nvSpPr>
        <p:spPr>
          <a:xfrm>
            <a:off x="2697163" y="1116013"/>
            <a:ext cx="7772400" cy="4976812"/>
          </a:xfrm>
        </p:spPr>
        <p:txBody>
          <a:bodyPr/>
          <a:lstStyle/>
          <a:p>
            <a:pPr marL="0" indent="0">
              <a:buNone/>
            </a:pPr>
            <a:endParaRPr lang="fr-FR" b="1" smtClean="0"/>
          </a:p>
          <a:p>
            <a:pPr marL="0" indent="0">
              <a:buNone/>
            </a:pPr>
            <a:endParaRPr lang="fr-FR" smtClean="0"/>
          </a:p>
          <a:p>
            <a:pPr marL="0" indent="0">
              <a:buNone/>
            </a:pPr>
            <a:r>
              <a:rPr lang="fr-FR" smtClean="0"/>
              <a:t> </a:t>
            </a:r>
          </a:p>
        </p:txBody>
      </p:sp>
      <p:pic>
        <p:nvPicPr>
          <p:cNvPr id="31748" name="Image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06689" y="1635125"/>
            <a:ext cx="6840537" cy="507523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pic>
      <p:sp>
        <p:nvSpPr>
          <p:cNvPr id="37893" name="Espace réservé du contenu 2"/>
          <p:cNvSpPr txBox="1">
            <a:spLocks/>
          </p:cNvSpPr>
          <p:nvPr/>
        </p:nvSpPr>
        <p:spPr bwMode="auto">
          <a:xfrm>
            <a:off x="1774825" y="1052514"/>
            <a:ext cx="77724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buFont typeface="Wingdings 3" panose="05040102010807070707" pitchFamily="18" charset="2"/>
              <a:buNone/>
            </a:pPr>
            <a:endParaRPr lang="fr-FR" dirty="0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Evolution professionnelle</a:t>
            </a:r>
            <a:endParaRPr lang="fr-FR" dirty="0" smtClean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75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Espace réservé du contenu 2"/>
          <p:cNvSpPr>
            <a:spLocks noGrp="1"/>
          </p:cNvSpPr>
          <p:nvPr>
            <p:ph idx="1"/>
          </p:nvPr>
        </p:nvSpPr>
        <p:spPr>
          <a:xfrm>
            <a:off x="2797739" y="1289051"/>
            <a:ext cx="7772400" cy="4687887"/>
          </a:xfrm>
        </p:spPr>
        <p:txBody>
          <a:bodyPr/>
          <a:lstStyle/>
          <a:p>
            <a:pPr algn="just" eaLnBrk="1" hangingPunct="1">
              <a:buFont typeface="Courier New" panose="02070309020205020404" pitchFamily="49" charset="0"/>
              <a:buChar char="o"/>
            </a:pPr>
            <a:r>
              <a:rPr lang="fr-FR" dirty="0" smtClean="0"/>
              <a:t>Code de Travail : Loi n°2003-044 du 28 juillet 2004</a:t>
            </a:r>
          </a:p>
          <a:p>
            <a:pPr algn="just" eaLnBrk="1" hangingPunct="1">
              <a:buFont typeface="Courier New" panose="02070309020205020404" pitchFamily="49" charset="0"/>
              <a:buChar char="o"/>
            </a:pPr>
            <a:r>
              <a:rPr lang="fr-FR" dirty="0" smtClean="0"/>
              <a:t>Obligation de l’employé de réaliser les tâches demandées dans la confidentialité</a:t>
            </a:r>
          </a:p>
          <a:p>
            <a:pPr algn="just" eaLnBrk="1" hangingPunct="1">
              <a:buFont typeface="Courier New" panose="02070309020205020404" pitchFamily="49" charset="0"/>
              <a:buChar char="o"/>
            </a:pPr>
            <a:r>
              <a:rPr lang="fr-FR" dirty="0" smtClean="0"/>
              <a:t>Obligation de l’employeur de mettre à disposition les outils nécessaires et de fournir la rémunération due</a:t>
            </a:r>
          </a:p>
          <a:p>
            <a:pPr marL="400050" lvl="2" indent="0" algn="just">
              <a:buClr>
                <a:schemeClr val="accent1"/>
              </a:buClr>
              <a:buNone/>
            </a:pPr>
            <a:endParaRPr lang="fr-FR" sz="2800" dirty="0"/>
          </a:p>
        </p:txBody>
      </p:sp>
      <p:pic>
        <p:nvPicPr>
          <p:cNvPr id="38916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4724400"/>
            <a:ext cx="23114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re 1"/>
          <p:cNvSpPr txBox="1">
            <a:spLocks/>
          </p:cNvSpPr>
          <p:nvPr/>
        </p:nvSpPr>
        <p:spPr>
          <a:xfrm>
            <a:off x="2279649" y="588964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 travailleur- employeur</a:t>
            </a:r>
            <a:endParaRPr lang="fr-FR" dirty="0" smtClean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5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Espace réservé du contenu 2"/>
          <p:cNvSpPr>
            <a:spLocks noGrp="1"/>
          </p:cNvSpPr>
          <p:nvPr>
            <p:ph idx="1"/>
          </p:nvPr>
        </p:nvSpPr>
        <p:spPr>
          <a:xfrm>
            <a:off x="2752922" y="1559846"/>
            <a:ext cx="7192963" cy="2863850"/>
          </a:xfrm>
        </p:spPr>
        <p:txBody>
          <a:bodyPr>
            <a:normAutofit/>
          </a:bodyPr>
          <a:lstStyle/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dirty="0" smtClean="0"/>
              <a:t>Deux team building dans l’année</a:t>
            </a:r>
          </a:p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dirty="0" smtClean="0"/>
              <a:t>Une réunion des consultants chaque 3è jeudi </a:t>
            </a:r>
            <a:r>
              <a:rPr lang="fr-FR" dirty="0" smtClean="0"/>
              <a:t>(trimestriel)</a:t>
            </a:r>
            <a:endParaRPr lang="fr-FR" dirty="0" smtClean="0"/>
          </a:p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dirty="0" smtClean="0"/>
              <a:t>Des activités extraprofessionnelles (</a:t>
            </a:r>
            <a:r>
              <a:rPr lang="fr-FR" dirty="0" err="1" smtClean="0"/>
              <a:t>Trail</a:t>
            </a:r>
            <a:r>
              <a:rPr lang="fr-FR" dirty="0" smtClean="0"/>
              <a:t>, tai chi, zumba, qi gong, sports collectifs)</a:t>
            </a:r>
          </a:p>
          <a:p>
            <a:pPr eaLnBrk="1" hangingPunct="1">
              <a:buFont typeface="Courier New" panose="02070309020205020404" pitchFamily="49" charset="0"/>
              <a:buChar char="o"/>
            </a:pPr>
            <a:r>
              <a:rPr lang="fr-FR" dirty="0" smtClean="0"/>
              <a:t>Fêtes de fin d’année</a:t>
            </a:r>
          </a:p>
        </p:txBody>
      </p:sp>
      <p:pic>
        <p:nvPicPr>
          <p:cNvPr id="39940" name="Picture 5" descr="RÃ©sultat de recherche d'images pour &quot;activitÃ© sociales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941" y="4527550"/>
            <a:ext cx="5064125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re 1"/>
          <p:cNvSpPr txBox="1">
            <a:spLocks/>
          </p:cNvSpPr>
          <p:nvPr/>
        </p:nvSpPr>
        <p:spPr>
          <a:xfrm>
            <a:off x="2181788" y="485110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 activités sociales</a:t>
            </a:r>
            <a:endParaRPr lang="fr-FR" dirty="0" smtClean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84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Espace réservé du contenu 2"/>
          <p:cNvSpPr>
            <a:spLocks noGrp="1"/>
          </p:cNvSpPr>
          <p:nvPr>
            <p:ph idx="1"/>
          </p:nvPr>
        </p:nvSpPr>
        <p:spPr>
          <a:xfrm>
            <a:off x="2882901" y="1549184"/>
            <a:ext cx="7772400" cy="3390900"/>
          </a:xfrm>
        </p:spPr>
        <p:txBody>
          <a:bodyPr>
            <a:noAutofit/>
          </a:bodyPr>
          <a:lstStyle/>
          <a:p>
            <a:pPr eaLnBrk="1" hangingPunct="1"/>
            <a:r>
              <a:rPr lang="fr-FR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Bonne ambiance de travail :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fr-FR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politesse et le respect d’autrui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fr-FR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Bonne communication interpersonnelle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fr-FR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Comportement professionnel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fr-FR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Sens du service et du travail en équipe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fr-FR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propreté corporelle et des locaux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fr-FR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Tutoiement </a:t>
            </a:r>
            <a:r>
              <a:rPr lang="fr-FR" sz="16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(prénom)</a:t>
            </a:r>
            <a:endParaRPr lang="fr-FR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4036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6" y="-22225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363" y="5035550"/>
            <a:ext cx="3168650" cy="182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32" y="5034501"/>
            <a:ext cx="2305050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re 1"/>
          <p:cNvSpPr txBox="1">
            <a:spLocks/>
          </p:cNvSpPr>
          <p:nvPr/>
        </p:nvSpPr>
        <p:spPr>
          <a:xfrm>
            <a:off x="1631949" y="555448"/>
            <a:ext cx="8388351" cy="14001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Savoir vivre ensemble</a:t>
            </a:r>
            <a:endParaRPr lang="fr-FR" dirty="0" smtClean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94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699</TotalTime>
  <Words>733</Words>
  <Application>Microsoft Office PowerPoint</Application>
  <PresentationFormat>Grand écran</PresentationFormat>
  <Paragraphs>172</Paragraphs>
  <Slides>28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Century Gothic</vt:lpstr>
      <vt:lpstr>Courier New</vt:lpstr>
      <vt:lpstr>Franklin Gothic Book</vt:lpstr>
      <vt:lpstr>Tahoma</vt:lpstr>
      <vt:lpstr>Times New Roman</vt:lpstr>
      <vt:lpstr>Wingdings</vt:lpstr>
      <vt:lpstr>Wingdings 3</vt:lpstr>
      <vt:lpstr>Crop</vt:lpstr>
      <vt:lpstr>Présentation PowerPoint</vt:lpstr>
      <vt:lpstr>Présentation du Groupe FTHM</vt:lpstr>
      <vt:lpstr>VISION ET VALEURS</vt:lpstr>
      <vt:lpstr>Présentation générale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LES CRITERES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GABRIELLE</dc:creator>
  <cp:lastModifiedBy>GABRIELLE</cp:lastModifiedBy>
  <cp:revision>11</cp:revision>
  <dcterms:created xsi:type="dcterms:W3CDTF">2019-09-23T05:37:53Z</dcterms:created>
  <dcterms:modified xsi:type="dcterms:W3CDTF">2020-05-22T11:42:58Z</dcterms:modified>
</cp:coreProperties>
</file>