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74" r:id="rId5"/>
    <p:sldId id="258" r:id="rId6"/>
    <p:sldId id="261" r:id="rId7"/>
    <p:sldId id="259" r:id="rId8"/>
    <p:sldId id="262" r:id="rId9"/>
    <p:sldId id="263" r:id="rId10"/>
    <p:sldId id="267" r:id="rId11"/>
    <p:sldId id="264" r:id="rId12"/>
    <p:sldId id="266" r:id="rId13"/>
    <p:sldId id="265" r:id="rId14"/>
    <p:sldId id="268" r:id="rId15"/>
    <p:sldId id="275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8" autoAdjust="0"/>
    <p:restoredTop sz="94660"/>
  </p:normalViewPr>
  <p:slideViewPr>
    <p:cSldViewPr snapToGrid="0">
      <p:cViewPr varScale="1">
        <p:scale>
          <a:sx n="92" d="100"/>
          <a:sy n="92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29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09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90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3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253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386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3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88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11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64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48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72C1D-FAD2-4D83-9CED-95ABA9B9B49F}" type="datetimeFigureOut">
              <a:rPr lang="fr-FR" smtClean="0"/>
              <a:t>26/02/2019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7849A-FAC0-4CAE-8FEB-95CA12BC26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26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09656" y="519106"/>
            <a:ext cx="7284028" cy="1143000"/>
          </a:xfrm>
        </p:spPr>
        <p:txBody>
          <a:bodyPr>
            <a:normAutofit/>
          </a:bodyPr>
          <a:lstStyle/>
          <a:p>
            <a:r>
              <a:rPr lang="fr-FR" sz="2000" b="1" dirty="0" smtClean="0">
                <a:latin typeface="Rockwell" panose="02060603020205020403" pitchFamily="18" charset="0"/>
              </a:rPr>
              <a:t>MÉMOIRE DE FIN D’ETUDE POUR L’OBTENTION DU DIPLÔME DE LICENCE PROFESSIONNELLE EN INFORMATIQUE</a:t>
            </a:r>
            <a:endParaRPr lang="fr-FR" sz="2000" b="1" dirty="0">
              <a:latin typeface="Rockwell" panose="020606030202050204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42" y="2218110"/>
            <a:ext cx="2256304" cy="2256304"/>
          </a:xfrm>
          <a:prstGeom prst="rect">
            <a:avLst/>
          </a:prstGeom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4589319" y="1577253"/>
            <a:ext cx="7284028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dirty="0" smtClean="0">
                <a:latin typeface="+mn-lt"/>
              </a:rPr>
              <a:t>Parcours: Informatique Générale</a:t>
            </a:r>
          </a:p>
          <a:p>
            <a:r>
              <a:rPr lang="fr-FR" sz="1800" dirty="0" smtClean="0">
                <a:latin typeface="+mn-lt"/>
              </a:rPr>
              <a:t>Intitulé</a:t>
            </a:r>
            <a:endParaRPr lang="fr-FR" sz="1800" dirty="0">
              <a:latin typeface="+mn-lt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4589319" y="3187844"/>
            <a:ext cx="7284028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2000" b="1" dirty="0">
              <a:latin typeface="Rockwell" panose="02060603020205020403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4755574" y="3187844"/>
            <a:ext cx="6951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>
                <a:solidFill>
                  <a:srgbClr val="E65100"/>
                </a:solidFill>
              </a:rPr>
              <a:t>CONCEPTION ET REALISATION D’UNE PLATEFORME   DE COMMANDE DE PLAT</a:t>
            </a:r>
            <a:endParaRPr lang="fr-FR" sz="2400" dirty="0">
              <a:solidFill>
                <a:srgbClr val="E6510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951517" y="4785879"/>
            <a:ext cx="51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Par  RASOAMAHEFA Rojo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635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498765" y="1725149"/>
            <a:ext cx="5611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</a:rPr>
              <a:t>REMERCIEMENTS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000497" y="858772"/>
            <a:ext cx="791787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Professeur RAFAMANTANANTSOA Fontaine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Professeur RAMAMONJISOA </a:t>
            </a:r>
            <a:r>
              <a:rPr lang="fr-FR" sz="2800" dirty="0" err="1" smtClean="0"/>
              <a:t>Andriantiana</a:t>
            </a:r>
            <a:r>
              <a:rPr lang="fr-FR" sz="2800" dirty="0" smtClean="0"/>
              <a:t> Bertin Olivier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Monsieur FARANIARIJAONA </a:t>
            </a:r>
            <a:r>
              <a:rPr lang="fr-FR" sz="2800" dirty="0" err="1"/>
              <a:t>Fety</a:t>
            </a: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Monsieur RAVELONDRINA </a:t>
            </a:r>
            <a:r>
              <a:rPr lang="fr-FR" sz="2800" dirty="0" err="1" smtClean="0"/>
              <a:t>Harijaona</a:t>
            </a:r>
            <a:endParaRPr lang="fr-FR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Professeur RAZAFIMANDIMBY Paul </a:t>
            </a:r>
            <a:r>
              <a:rPr lang="fr-FR" sz="2800" dirty="0" err="1" smtClean="0"/>
              <a:t>Josvah</a:t>
            </a:r>
            <a:endParaRPr lang="fr-FR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Docteur MAHATODY Thomas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Mademoiselle RATIANANTITRA </a:t>
            </a:r>
            <a:r>
              <a:rPr lang="fr-FR" sz="2800" dirty="0" err="1" smtClean="0"/>
              <a:t>Volatiana</a:t>
            </a:r>
            <a:r>
              <a:rPr lang="fr-FR" sz="2800" dirty="0" smtClean="0"/>
              <a:t> Marielle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Toute personne ayant contribué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0" r="23502"/>
          <a:stretch/>
        </p:blipFill>
        <p:spPr>
          <a:xfrm>
            <a:off x="831271" y="2309924"/>
            <a:ext cx="2337955" cy="20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5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213764" y="2637665"/>
            <a:ext cx="3366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>
                <a:solidFill>
                  <a:srgbClr val="E65100"/>
                </a:solidFill>
              </a:rPr>
              <a:t>INTRODUCTION</a:t>
            </a:r>
            <a:endParaRPr lang="fr-FR" sz="3600" dirty="0">
              <a:solidFill>
                <a:srgbClr val="E651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518" y="2413209"/>
            <a:ext cx="1578317" cy="145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3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5" t="13470" r="33602" b="15651"/>
          <a:stretch/>
        </p:blipFill>
        <p:spPr>
          <a:xfrm>
            <a:off x="681902" y="2057401"/>
            <a:ext cx="2466543" cy="223439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6092537" y="1734235"/>
            <a:ext cx="6099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>
                <a:solidFill>
                  <a:srgbClr val="E65100"/>
                </a:solidFill>
              </a:rPr>
              <a:t>PROBLEMATIQUE</a:t>
            </a:r>
            <a:endParaRPr lang="fr-FR" sz="3600" dirty="0">
              <a:solidFill>
                <a:srgbClr val="E651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536929" y="2906804"/>
            <a:ext cx="6639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Comment </a:t>
            </a:r>
            <a:r>
              <a:rPr lang="fr-FR" sz="2800" dirty="0" smtClean="0"/>
              <a:t>offrir à une entreprise de restauration la gestion de son environnement technologique?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7715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4589317" y="2387743"/>
            <a:ext cx="7370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smtClean="0">
                <a:solidFill>
                  <a:srgbClr val="E65100"/>
                </a:solidFill>
              </a:rPr>
              <a:t>CONCEPTION ET REALISATION D’UNE PLATEFORME DE COMMANDE DE PLAT</a:t>
            </a:r>
            <a:endParaRPr lang="fr-FR" sz="3200" dirty="0">
              <a:solidFill>
                <a:srgbClr val="E6510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6" b="94501" l="9673" r="91750">
                        <a14:foregroundMark x1="37838" y1="43994" x2="37838" y2="43994"/>
                        <a14:foregroundMark x1="51351" y1="51520" x2="51351" y2="51520"/>
                        <a14:foregroundMark x1="62020" y1="47612" x2="62020" y2="476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639"/>
          <a:stretch/>
        </p:blipFill>
        <p:spPr>
          <a:xfrm>
            <a:off x="581423" y="1855463"/>
            <a:ext cx="2494286" cy="25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4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345768" y="707670"/>
            <a:ext cx="6463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E65100"/>
                </a:solidFill>
              </a:rPr>
              <a:t>PLAN</a:t>
            </a:r>
            <a:endParaRPr lang="fr-FR" sz="4800" dirty="0">
              <a:solidFill>
                <a:srgbClr val="E651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57" y="1384453"/>
            <a:ext cx="1782977" cy="1782977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77254" y="3315465"/>
            <a:ext cx="230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Ecole Nationale d’Informatique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37" y="3305168"/>
            <a:ext cx="1609837" cy="160983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514" y="3167430"/>
            <a:ext cx="1633170" cy="1633170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7890163" y="4994687"/>
            <a:ext cx="229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Analyse et Conception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5" t="-371" r="32314" b="17823"/>
          <a:stretch/>
        </p:blipFill>
        <p:spPr>
          <a:xfrm>
            <a:off x="9748340" y="943065"/>
            <a:ext cx="2394857" cy="242003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0186554" y="3488735"/>
            <a:ext cx="200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Démonstration</a:t>
            </a:r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9"/>
          <a:stretch/>
        </p:blipFill>
        <p:spPr>
          <a:xfrm>
            <a:off x="5345768" y="3673401"/>
            <a:ext cx="1576661" cy="1591750"/>
          </a:xfrm>
          <a:prstGeom prst="ellipse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5133109" y="5459698"/>
            <a:ext cx="230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Description du projet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171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5496792" y="2587337"/>
            <a:ext cx="6213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65100"/>
                </a:solidFill>
              </a:rPr>
              <a:t>Présentations</a:t>
            </a:r>
            <a:endParaRPr lang="fr-FR" sz="4000" dirty="0">
              <a:solidFill>
                <a:srgbClr val="E651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6" b="89926" l="0" r="97185">
                        <a14:foregroundMark x1="24148" y1="13778" x2="24148" y2="13778"/>
                        <a14:foregroundMark x1="18222" y1="41037" x2="18222" y2="41037"/>
                        <a14:foregroundMark x1="36148" y1="30074" x2="36148" y2="30074"/>
                        <a14:foregroundMark x1="48148" y1="41926" x2="48148" y2="41926"/>
                        <a14:foregroundMark x1="87407" y1="21926" x2="87407" y2="21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22" y="1923623"/>
            <a:ext cx="2347575" cy="25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540326" y="1745673"/>
            <a:ext cx="293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</a:rPr>
              <a:t>Présentation de l’ENI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780409" y="1828800"/>
            <a:ext cx="65982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Ecole Nationale d’Informatique ou ENI</a:t>
            </a:r>
          </a:p>
          <a:p>
            <a:pPr lvl="1"/>
            <a:r>
              <a:rPr lang="fr-FR" sz="2400" dirty="0" smtClean="0"/>
              <a:t>    Adresse : Tanambao Fianarantsoa</a:t>
            </a:r>
          </a:p>
          <a:p>
            <a:pPr lvl="1"/>
            <a:r>
              <a:rPr lang="fr-FR" sz="2400" dirty="0" smtClean="0"/>
              <a:t>    Décret N° 83 185 du 24 mai 1983</a:t>
            </a:r>
          </a:p>
          <a:p>
            <a:pPr lvl="1"/>
            <a:r>
              <a:rPr lang="fr-FR" sz="2400" dirty="0" smtClean="0"/>
              <a:t>    BP : 1487</a:t>
            </a:r>
          </a:p>
          <a:p>
            <a:pPr lvl="1"/>
            <a:r>
              <a:rPr lang="fr-FR" sz="2400" dirty="0" smtClean="0"/>
              <a:t>    Téléphone : 75 508 01</a:t>
            </a:r>
          </a:p>
          <a:p>
            <a:pPr lvl="1"/>
            <a:r>
              <a:rPr lang="fr-FR" sz="2400" dirty="0" smtClean="0"/>
              <a:t>    eni@univ-fianar.mg / www.univ-fianar.mg</a:t>
            </a:r>
          </a:p>
          <a:p>
            <a:endParaRPr lang="fr-F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Parcours:</a:t>
            </a:r>
          </a:p>
          <a:p>
            <a:pPr lvl="1"/>
            <a:r>
              <a:rPr lang="fr-FR" sz="2400" dirty="0" smtClean="0"/>
              <a:t>Génie Logiciel et base de données</a:t>
            </a:r>
          </a:p>
          <a:p>
            <a:pPr lvl="1"/>
            <a:r>
              <a:rPr lang="fr-FR" sz="2400" dirty="0" smtClean="0"/>
              <a:t>Administration des systèmes et réseaux</a:t>
            </a:r>
          </a:p>
          <a:p>
            <a:pPr lvl="1"/>
            <a:r>
              <a:rPr lang="fr-FR" sz="2400" dirty="0" smtClean="0"/>
              <a:t>Informatique générale</a:t>
            </a:r>
            <a:endParaRPr lang="fr-FR" sz="2400" dirty="0"/>
          </a:p>
        </p:txBody>
      </p:sp>
      <p:sp>
        <p:nvSpPr>
          <p:cNvPr id="7" name="ZoneTexte 6"/>
          <p:cNvSpPr txBox="1"/>
          <p:nvPr/>
        </p:nvSpPr>
        <p:spPr>
          <a:xfrm>
            <a:off x="4281055" y="571500"/>
            <a:ext cx="6525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rgbClr val="E65100"/>
                </a:solidFill>
              </a:rPr>
              <a:t>Présentation de l’ENI</a:t>
            </a:r>
            <a:endParaRPr lang="fr-FR" sz="2800" dirty="0">
              <a:solidFill>
                <a:srgbClr val="E651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"/>
          <a:srcRect r="2644"/>
          <a:stretch/>
        </p:blipFill>
        <p:spPr>
          <a:xfrm>
            <a:off x="1280016" y="2403130"/>
            <a:ext cx="1892775" cy="1924448"/>
          </a:xfrm>
          <a:prstGeom prst="ellipse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948545" y="1745673"/>
            <a:ext cx="45719" cy="37904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E65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65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4249881" y="361844"/>
            <a:ext cx="4156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rgbClr val="E65100"/>
                </a:solidFill>
              </a:rPr>
              <a:t>Présentation de Hibousoft</a:t>
            </a:r>
            <a:endParaRPr lang="fr-FR" sz="2800" dirty="0">
              <a:solidFill>
                <a:srgbClr val="E651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779818" y="1551288"/>
            <a:ext cx="819149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Adresse : Lot IAV 313 </a:t>
            </a:r>
            <a:r>
              <a:rPr lang="fr-FR" sz="2000" dirty="0" err="1" smtClean="0"/>
              <a:t>Iavoloha</a:t>
            </a:r>
            <a:r>
              <a:rPr lang="fr-FR" sz="2000" dirty="0" smtClean="0"/>
              <a:t> </a:t>
            </a:r>
            <a:r>
              <a:rPr lang="fr-FR" sz="2000" dirty="0" err="1" smtClean="0"/>
              <a:t>Andoharanofotsy</a:t>
            </a:r>
            <a:r>
              <a:rPr lang="fr-FR" sz="2000" dirty="0" smtClean="0"/>
              <a:t> – Antananarivo 102 </a:t>
            </a:r>
          </a:p>
          <a:p>
            <a:r>
              <a:rPr lang="fr-FR" sz="2000" dirty="0" smtClean="0"/>
              <a:t>NIF : 5002529396</a:t>
            </a:r>
          </a:p>
          <a:p>
            <a:r>
              <a:rPr lang="fr-FR" sz="2000" dirty="0" smtClean="0"/>
              <a:t>STATISTIQUE : 63122 11 2016 0 06986</a:t>
            </a:r>
          </a:p>
          <a:p>
            <a:r>
              <a:rPr lang="fr-FR" sz="2000" dirty="0" smtClean="0"/>
              <a:t>Représentée par : RAVELONDRINA </a:t>
            </a:r>
            <a:r>
              <a:rPr lang="fr-FR" sz="2000" dirty="0" err="1" smtClean="0"/>
              <a:t>Harijaona</a:t>
            </a:r>
            <a:endParaRPr lang="fr-FR" sz="2000" dirty="0" smtClean="0"/>
          </a:p>
          <a:p>
            <a:r>
              <a:rPr lang="fr-FR" sz="2000" dirty="0" smtClean="0"/>
              <a:t>Tél : 034 92 606 62</a:t>
            </a:r>
          </a:p>
          <a:p>
            <a:r>
              <a:rPr lang="fr-FR" sz="2000" dirty="0" smtClean="0"/>
              <a:t>Site web : http://hibousoft.com</a:t>
            </a:r>
          </a:p>
          <a:p>
            <a:r>
              <a:rPr lang="fr-FR" sz="2000" dirty="0" smtClean="0"/>
              <a:t>Courriel : info@hibousoft.com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4388774" y="4191865"/>
            <a:ext cx="725285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Missions :</a:t>
            </a:r>
          </a:p>
          <a:p>
            <a:r>
              <a:rPr lang="fr-FR" sz="2000" dirty="0" smtClean="0"/>
              <a:t>   - recherche et de développement de solutions informatiques </a:t>
            </a:r>
          </a:p>
          <a:p>
            <a:r>
              <a:rPr lang="fr-FR" sz="2000" dirty="0"/>
              <a:t> </a:t>
            </a:r>
            <a:r>
              <a:rPr lang="fr-FR" sz="2000" dirty="0" smtClean="0"/>
              <a:t>  - dématérialisation </a:t>
            </a:r>
            <a:r>
              <a:rPr lang="fr-FR" sz="2000" dirty="0"/>
              <a:t>et urbanisation des Systèmes d’Informations</a:t>
            </a:r>
            <a:r>
              <a:rPr lang="fr-FR" sz="2000" dirty="0" smtClean="0"/>
              <a:t>,</a:t>
            </a:r>
          </a:p>
          <a:p>
            <a:r>
              <a:rPr lang="fr-FR" sz="2000" dirty="0"/>
              <a:t> </a:t>
            </a:r>
            <a:r>
              <a:rPr lang="fr-FR" sz="2000" dirty="0" smtClean="0"/>
              <a:t>  - </a:t>
            </a:r>
            <a:r>
              <a:rPr lang="fr-FR" sz="2000" dirty="0"/>
              <a:t>prestation de service de développement spécifique et de sous-traitance des sociétés nationales ou offshore. </a:t>
            </a:r>
          </a:p>
          <a:p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337" y="2183561"/>
            <a:ext cx="1762991" cy="17629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flipH="1">
            <a:off x="3947505" y="1551288"/>
            <a:ext cx="45719" cy="3969327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40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974522" y="688848"/>
            <a:ext cx="7117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rgbClr val="E65100"/>
                </a:solidFill>
              </a:rPr>
              <a:t>Description du projet</a:t>
            </a:r>
            <a:endParaRPr lang="fr-FR" sz="3200" dirty="0">
              <a:solidFill>
                <a:srgbClr val="E651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65" t="20658" r="35463" b="16642"/>
          <a:stretch/>
        </p:blipFill>
        <p:spPr>
          <a:xfrm>
            <a:off x="1192641" y="2441863"/>
            <a:ext cx="1943100" cy="18288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873986" y="4514229"/>
            <a:ext cx="2580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Plateforme de commande de plat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3" t="22953" r="36029" b="25085"/>
          <a:stretch/>
        </p:blipFill>
        <p:spPr>
          <a:xfrm>
            <a:off x="4914900" y="2475142"/>
            <a:ext cx="1911928" cy="1631373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4603173" y="1931232"/>
            <a:ext cx="231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Besoins de l’utilisateur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676339" y="4344585"/>
            <a:ext cx="27115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smtClean="0"/>
              <a:t>S’authentifier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Gérer ville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Gérer clients/livreurs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Gérer produits en stock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Gérer les plats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Gérer les commandes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Gérer les livraisons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1589808" y="1977855"/>
            <a:ext cx="219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Objectif</a:t>
            </a:r>
            <a:endParaRPr lang="fr-FR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546" y="2616138"/>
            <a:ext cx="1480251" cy="1480251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8317922" y="1977855"/>
            <a:ext cx="246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Résultats attendus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8330684" y="4575417"/>
            <a:ext cx="216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Application web back office pour commande de plat</a:t>
            </a:r>
          </a:p>
        </p:txBody>
      </p:sp>
    </p:spTree>
    <p:extLst>
      <p:ext uri="{BB962C8B-B14F-4D97-AF65-F5344CB8AC3E}">
        <p14:creationId xmlns:p14="http://schemas.microsoft.com/office/powerpoint/2010/main" val="407434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68" t="313" r="-7828" b="-313"/>
          <a:stretch/>
        </p:blipFill>
        <p:spPr>
          <a:xfrm>
            <a:off x="550718" y="1594710"/>
            <a:ext cx="3186062" cy="324201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434445" y="2944903"/>
            <a:ext cx="4862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65100"/>
                </a:solidFill>
              </a:rPr>
              <a:t>Analyse et Conception</a:t>
            </a:r>
            <a:endParaRPr lang="fr-FR" sz="4000" dirty="0">
              <a:solidFill>
                <a:srgbClr val="E65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29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611" y="1943056"/>
            <a:ext cx="1995100" cy="19951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461611" y="4249882"/>
            <a:ext cx="2899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Analyse préalable</a:t>
            </a: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399" y="1381991"/>
            <a:ext cx="3618691" cy="3329556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595654" y="4249881"/>
            <a:ext cx="290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Analyse Conceptuelle</a:t>
            </a:r>
            <a:endParaRPr lang="fr-FR" sz="24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2" t="16212" r="29461" b="16364"/>
          <a:stretch/>
        </p:blipFill>
        <p:spPr>
          <a:xfrm>
            <a:off x="8932626" y="1911337"/>
            <a:ext cx="2022263" cy="202681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8666017" y="4249880"/>
            <a:ext cx="3002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Conception détaillée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71032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1" y="11415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5" t="5303" r="45771" b="53181"/>
          <a:stretch/>
        </p:blipFill>
        <p:spPr>
          <a:xfrm>
            <a:off x="898075" y="1915350"/>
            <a:ext cx="2079660" cy="180897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520044" y="280642"/>
            <a:ext cx="5153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Analyse de l’existant</a:t>
            </a:r>
            <a:endParaRPr lang="fr-FR" sz="3200" dirty="0"/>
          </a:p>
        </p:txBody>
      </p:sp>
      <p:sp>
        <p:nvSpPr>
          <p:cNvPr id="7" name="ZoneTexte 6"/>
          <p:cNvSpPr txBox="1"/>
          <p:nvPr/>
        </p:nvSpPr>
        <p:spPr>
          <a:xfrm>
            <a:off x="4520044" y="4020207"/>
            <a:ext cx="3735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Critique de l’existant</a:t>
            </a:r>
            <a:endParaRPr lang="fr-FR" sz="3200" dirty="0"/>
          </a:p>
        </p:txBody>
      </p:sp>
      <p:sp>
        <p:nvSpPr>
          <p:cNvPr id="8" name="Rectangle 7"/>
          <p:cNvSpPr/>
          <p:nvPr/>
        </p:nvSpPr>
        <p:spPr>
          <a:xfrm>
            <a:off x="4904508" y="875203"/>
            <a:ext cx="45719" cy="419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904508" y="4726114"/>
            <a:ext cx="45719" cy="1072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5101935" y="884988"/>
            <a:ext cx="4312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 Aucun projet existant d’</a:t>
            </a:r>
            <a:r>
              <a:rPr lang="fr-FR" sz="2000" dirty="0" err="1" smtClean="0"/>
              <a:t>Hibousoft</a:t>
            </a:r>
            <a:endParaRPr lang="fr-FR" sz="2000" dirty="0"/>
          </a:p>
        </p:txBody>
      </p:sp>
      <p:sp>
        <p:nvSpPr>
          <p:cNvPr id="11" name="ZoneTexte 10"/>
          <p:cNvSpPr txBox="1"/>
          <p:nvPr/>
        </p:nvSpPr>
        <p:spPr>
          <a:xfrm>
            <a:off x="5101932" y="4809241"/>
            <a:ext cx="45720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000" dirty="0" smtClean="0"/>
              <a:t>Perte de notes de commande client</a:t>
            </a:r>
          </a:p>
          <a:p>
            <a:pPr marL="285750" indent="-285750">
              <a:buFontTx/>
              <a:buChar char="-"/>
            </a:pPr>
            <a:r>
              <a:rPr lang="fr-FR" sz="2000" dirty="0" smtClean="0"/>
              <a:t>Courant, presque habituel</a:t>
            </a:r>
          </a:p>
          <a:p>
            <a:pPr marL="285750" indent="-285750">
              <a:buFontTx/>
              <a:buChar char="-"/>
            </a:pPr>
            <a:r>
              <a:rPr lang="fr-FR" sz="2000" dirty="0" smtClean="0"/>
              <a:t>Paperasse encombrante</a:t>
            </a:r>
          </a:p>
          <a:p>
            <a:endParaRPr lang="fr-FR" sz="2000" dirty="0"/>
          </a:p>
        </p:txBody>
      </p:sp>
      <p:sp>
        <p:nvSpPr>
          <p:cNvPr id="12" name="ZoneTexte 11"/>
          <p:cNvSpPr txBox="1"/>
          <p:nvPr/>
        </p:nvSpPr>
        <p:spPr>
          <a:xfrm>
            <a:off x="4520043" y="2021540"/>
            <a:ext cx="5153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Organisation actuelle</a:t>
            </a:r>
            <a:endParaRPr lang="fr-FR" sz="3200" dirty="0"/>
          </a:p>
        </p:txBody>
      </p:sp>
      <p:sp>
        <p:nvSpPr>
          <p:cNvPr id="13" name="Rectangle 12"/>
          <p:cNvSpPr/>
          <p:nvPr/>
        </p:nvSpPr>
        <p:spPr>
          <a:xfrm>
            <a:off x="4904507" y="2764460"/>
            <a:ext cx="45719" cy="6759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5101935" y="2582898"/>
            <a:ext cx="4800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 - Service de commande sur réseaux sociaux</a:t>
            </a:r>
          </a:p>
          <a:p>
            <a:r>
              <a:rPr lang="fr-FR" sz="2000" dirty="0" smtClean="0"/>
              <a:t> - Gestion par Excel </a:t>
            </a:r>
          </a:p>
          <a:p>
            <a:r>
              <a:rPr lang="fr-FR" sz="2000" dirty="0" smtClean="0"/>
              <a:t> - Suivi hors ligne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2687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1" t="55455" r="56506" b="14242"/>
          <a:stretch/>
        </p:blipFill>
        <p:spPr>
          <a:xfrm>
            <a:off x="5185063" y="488372"/>
            <a:ext cx="1610591" cy="1620981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33846" y="3491346"/>
            <a:ext cx="223404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Réalisation d’une plateforme de commande de plat</a:t>
            </a:r>
          </a:p>
          <a:p>
            <a:pPr algn="ctr"/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359889" y="2845015"/>
            <a:ext cx="2105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Méthode de modélisation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923414" y="3584896"/>
            <a:ext cx="978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2TUP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667991" y="4375078"/>
            <a:ext cx="1336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Notation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923414" y="4784008"/>
            <a:ext cx="9781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UML</a:t>
            </a:r>
          </a:p>
          <a:p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6603784" y="3123231"/>
            <a:ext cx="1734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Langage</a:t>
            </a:r>
            <a:endParaRPr lang="fr-FR" sz="24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896" y="3785884"/>
            <a:ext cx="2050836" cy="1490274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9725890" y="3149149"/>
            <a:ext cx="1734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SGBD</a:t>
            </a:r>
            <a:endParaRPr lang="fr-FR" sz="240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560" y="3807601"/>
            <a:ext cx="1635674" cy="11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5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21" y="728619"/>
            <a:ext cx="1805506" cy="1805506"/>
          </a:xfrm>
          <a:prstGeom prst="rect">
            <a:avLst/>
          </a:prstGeom>
        </p:spPr>
      </p:pic>
      <p:sp>
        <p:nvSpPr>
          <p:cNvPr id="3" name="Flèche droite 2"/>
          <p:cNvSpPr/>
          <p:nvPr/>
        </p:nvSpPr>
        <p:spPr>
          <a:xfrm>
            <a:off x="3054927" y="1345622"/>
            <a:ext cx="1122218" cy="5715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3" t="13366" r="19336" b="-562"/>
          <a:stretch/>
        </p:blipFill>
        <p:spPr>
          <a:xfrm>
            <a:off x="5737446" y="838847"/>
            <a:ext cx="1867031" cy="1870365"/>
          </a:xfrm>
          <a:prstGeom prst="rect">
            <a:avLst/>
          </a:prstGeom>
        </p:spPr>
      </p:pic>
      <p:sp>
        <p:nvSpPr>
          <p:cNvPr id="5" name="Flèche en arc 4"/>
          <p:cNvSpPr/>
          <p:nvPr/>
        </p:nvSpPr>
        <p:spPr>
          <a:xfrm rot="16200000">
            <a:off x="4211326" y="2120556"/>
            <a:ext cx="1709305" cy="2171701"/>
          </a:xfrm>
          <a:prstGeom prst="circularArrow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737446" y="3589322"/>
            <a:ext cx="2771039" cy="195782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151829" y="4080136"/>
            <a:ext cx="748145" cy="93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151829" y="4402142"/>
            <a:ext cx="3740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6670961" y="4398539"/>
            <a:ext cx="3740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7191533" y="4413865"/>
            <a:ext cx="3740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6142052" y="4597409"/>
            <a:ext cx="1631373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6142051" y="4792676"/>
            <a:ext cx="1631373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6132684" y="4993028"/>
            <a:ext cx="1631373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6998275" y="5587288"/>
            <a:ext cx="124690" cy="2638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>
            <a:off x="6670961" y="5814924"/>
            <a:ext cx="789709" cy="1527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en arc 17"/>
          <p:cNvSpPr/>
          <p:nvPr/>
        </p:nvSpPr>
        <p:spPr>
          <a:xfrm rot="5400000">
            <a:off x="8022711" y="2024840"/>
            <a:ext cx="1709305" cy="2171701"/>
          </a:xfrm>
          <a:prstGeom prst="circularArrow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Flèche gauche 14"/>
          <p:cNvSpPr/>
          <p:nvPr/>
        </p:nvSpPr>
        <p:spPr>
          <a:xfrm>
            <a:off x="8903723" y="4733448"/>
            <a:ext cx="1059491" cy="6105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0" t="13470" r="35255" b="14730"/>
          <a:stretch/>
        </p:blipFill>
        <p:spPr>
          <a:xfrm>
            <a:off x="10187239" y="4061060"/>
            <a:ext cx="2004761" cy="223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7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08" b="92157" l="27214" r="71706">
                        <a14:foregroundMark x1="30454" y1="37255" x2="30454" y2="37255"/>
                        <a14:foregroundMark x1="62851" y1="33578" x2="62851" y2="33578"/>
                        <a14:foregroundMark x1="70194" y1="33088" x2="70194" y2="33088"/>
                        <a14:foregroundMark x1="65659" y1="33088" x2="65659" y2="33088"/>
                        <a14:foregroundMark x1="62851" y1="65196" x2="62851" y2="65196"/>
                        <a14:foregroundMark x1="69762" y1="65931" x2="69762" y2="65931"/>
                        <a14:foregroundMark x1="61339" y1="65686" x2="61339" y2="65686"/>
                        <a14:foregroundMark x1="30454" y1="60784" x2="30454" y2="60784"/>
                        <a14:foregroundMark x1="29590" y1="65196" x2="29590" y2="65196"/>
                        <a14:foregroundMark x1="29158" y1="67892" x2="29158" y2="67892"/>
                        <a14:foregroundMark x1="32613" y1="63971" x2="32613" y2="639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03" y="226119"/>
            <a:ext cx="2196790" cy="102623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805545" y="226119"/>
            <a:ext cx="5091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E65100"/>
                </a:solidFill>
              </a:rPr>
              <a:t>Diagramme de cas d’utilisation</a:t>
            </a:r>
            <a:endParaRPr lang="fr-FR" sz="2400" dirty="0">
              <a:solidFill>
                <a:srgbClr val="E6510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66"/>
          <a:stretch/>
        </p:blipFill>
        <p:spPr>
          <a:xfrm>
            <a:off x="2805545" y="912326"/>
            <a:ext cx="6505587" cy="558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22" t="13231" r="31709" b="15213"/>
          <a:stretch/>
        </p:blipFill>
        <p:spPr>
          <a:xfrm>
            <a:off x="1092820" y="346573"/>
            <a:ext cx="1405054" cy="1416205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719376" y="823842"/>
            <a:ext cx="5507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E65100"/>
                </a:solidFill>
              </a:rPr>
              <a:t>Diagramme de séquence système</a:t>
            </a:r>
            <a:endParaRPr lang="fr-FR" sz="2400" dirty="0">
              <a:solidFill>
                <a:srgbClr val="E6510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926" y="1184997"/>
            <a:ext cx="5026130" cy="55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0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85" t="15272" r="34598" b="17798"/>
          <a:stretch/>
        </p:blipFill>
        <p:spPr>
          <a:xfrm>
            <a:off x="1061872" y="0"/>
            <a:ext cx="1460810" cy="1471961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709746" y="400139"/>
            <a:ext cx="6691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E65100"/>
                </a:solidFill>
              </a:rPr>
              <a:t>Diagramme de classe de conception globale</a:t>
            </a:r>
            <a:endParaRPr lang="fr-FR" sz="2400" dirty="0">
              <a:solidFill>
                <a:srgbClr val="E65100"/>
              </a:solidFill>
            </a:endParaRPr>
          </a:p>
        </p:txBody>
      </p:sp>
      <p:pic>
        <p:nvPicPr>
          <p:cNvPr id="7" name="Imag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518" y="965712"/>
            <a:ext cx="7897091" cy="58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2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4" t="17152" r="33188" b="17722"/>
          <a:stretch/>
        </p:blipFill>
        <p:spPr>
          <a:xfrm>
            <a:off x="752827" y="2176895"/>
            <a:ext cx="2525615" cy="2192481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881254" y="2919192"/>
            <a:ext cx="5860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65100"/>
                </a:solidFill>
              </a:rPr>
              <a:t>DEMONSTRATION</a:t>
            </a:r>
            <a:endParaRPr lang="fr-FR" sz="4000" dirty="0">
              <a:solidFill>
                <a:srgbClr val="E65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38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037118" y="3085448"/>
            <a:ext cx="605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65100"/>
                </a:solidFill>
              </a:rPr>
              <a:t>CONCLUSION</a:t>
            </a:r>
            <a:endParaRPr lang="fr-FR" dirty="0">
              <a:solidFill>
                <a:srgbClr val="E65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02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322</Words>
  <Application>Microsoft Office PowerPoint</Application>
  <PresentationFormat>Grand écran</PresentationFormat>
  <Paragraphs>90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Rockwell</vt:lpstr>
      <vt:lpstr>Thème Office</vt:lpstr>
      <vt:lpstr>MÉMOIRE DE FIN D’ETUDE POUR L’OBTENTION DU DIPLÔME DE LICENCE PROFESSIONNELLE EN INFORMATIQUE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MÉMOIRE DE FIN D’ETUDE POUR L’OBTENTION DU DIPLÔME DE LICENCE PROFESSIONNELLE EN INFORMATIQUE</dc:title>
  <dc:creator>Rojo Rasoamahefa</dc:creator>
  <cp:lastModifiedBy>Rojo Rasoamahefa</cp:lastModifiedBy>
  <cp:revision>58</cp:revision>
  <dcterms:created xsi:type="dcterms:W3CDTF">2019-02-13T12:24:10Z</dcterms:created>
  <dcterms:modified xsi:type="dcterms:W3CDTF">2019-02-26T02:25:57Z</dcterms:modified>
</cp:coreProperties>
</file>